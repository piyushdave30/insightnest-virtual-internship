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7" r:id="rId10"/>
    <p:sldId id="268" r:id="rId11"/>
    <p:sldId id="264"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E3C3B-D5B0-4120-9A5C-401ECC0A4B17}" type="datetimeFigureOut">
              <a:rPr lang="en-IN" smtClean="0"/>
              <a:t>18-08-2026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7C7FFA-7EC7-447C-8B59-383EC93AEE08}" type="slidenum">
              <a:rPr lang="en-IN" smtClean="0"/>
              <a:t>‹#›</a:t>
            </a:fld>
            <a:endParaRPr lang="en-IN"/>
          </a:p>
        </p:txBody>
      </p:sp>
    </p:spTree>
    <p:extLst>
      <p:ext uri="{BB962C8B-B14F-4D97-AF65-F5344CB8AC3E}">
        <p14:creationId xmlns:p14="http://schemas.microsoft.com/office/powerpoint/2010/main" val="3216082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97C7FFA-7EC7-447C-8B59-383EC93AEE08}" type="slidenum">
              <a:rPr lang="en-IN" smtClean="0"/>
              <a:t>1</a:t>
            </a:fld>
            <a:endParaRPr lang="en-IN"/>
          </a:p>
        </p:txBody>
      </p:sp>
    </p:spTree>
    <p:extLst>
      <p:ext uri="{BB962C8B-B14F-4D97-AF65-F5344CB8AC3E}">
        <p14:creationId xmlns:p14="http://schemas.microsoft.com/office/powerpoint/2010/main" val="340070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97C7FFA-7EC7-447C-8B59-383EC93AEE08}" type="slidenum">
              <a:rPr lang="en-IN" smtClean="0"/>
              <a:t>2</a:t>
            </a:fld>
            <a:endParaRPr lang="en-IN"/>
          </a:p>
        </p:txBody>
      </p:sp>
    </p:spTree>
    <p:extLst>
      <p:ext uri="{BB962C8B-B14F-4D97-AF65-F5344CB8AC3E}">
        <p14:creationId xmlns:p14="http://schemas.microsoft.com/office/powerpoint/2010/main" val="2952623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97C7FFA-7EC7-447C-8B59-383EC93AEE08}" type="slidenum">
              <a:rPr lang="en-IN" smtClean="0"/>
              <a:t>8</a:t>
            </a:fld>
            <a:endParaRPr lang="en-IN"/>
          </a:p>
        </p:txBody>
      </p:sp>
    </p:spTree>
    <p:extLst>
      <p:ext uri="{BB962C8B-B14F-4D97-AF65-F5344CB8AC3E}">
        <p14:creationId xmlns:p14="http://schemas.microsoft.com/office/powerpoint/2010/main" val="1854743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suhanigupta04/global-movies-dataset-19502026"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2" name="TextBox 1"/>
          <p:cNvSpPr txBox="1"/>
          <p:nvPr/>
        </p:nvSpPr>
        <p:spPr>
          <a:xfrm>
            <a:off x="640080" y="594360"/>
            <a:ext cx="2551176" cy="338554"/>
          </a:xfrm>
          <a:prstGeom prst="rect">
            <a:avLst/>
          </a:prstGeom>
          <a:noFill/>
        </p:spPr>
        <p:txBody>
          <a:bodyPr wrap="square">
            <a:spAutoFit/>
          </a:bodyPr>
          <a:lstStyle/>
          <a:p>
            <a:pPr algn="l"/>
            <a:r>
              <a:rPr sz="1600" b="1" dirty="0">
                <a:solidFill>
                  <a:srgbClr val="A4A9B4"/>
                </a:solidFill>
                <a:latin typeface="Aptos"/>
              </a:rPr>
              <a:t>INSIGHTNEST </a:t>
            </a:r>
            <a:r>
              <a:rPr lang="en-IN" sz="1600" b="1" dirty="0">
                <a:solidFill>
                  <a:srgbClr val="A4A9B4"/>
                </a:solidFill>
                <a:latin typeface="Aptos"/>
              </a:rPr>
              <a:t> | </a:t>
            </a:r>
            <a:r>
              <a:rPr sz="1600" b="1" dirty="0">
                <a:solidFill>
                  <a:srgbClr val="A4A9B4"/>
                </a:solidFill>
                <a:latin typeface="Aptos"/>
              </a:rPr>
              <a:t> TEAM 3</a:t>
            </a:r>
          </a:p>
        </p:txBody>
      </p:sp>
      <p:sp>
        <p:nvSpPr>
          <p:cNvPr id="3" name="TextBox 2"/>
          <p:cNvSpPr txBox="1"/>
          <p:nvPr/>
        </p:nvSpPr>
        <p:spPr>
          <a:xfrm>
            <a:off x="258064" y="1325880"/>
            <a:ext cx="4078224" cy="1200329"/>
          </a:xfrm>
          <a:prstGeom prst="rect">
            <a:avLst/>
          </a:prstGeom>
          <a:noFill/>
        </p:spPr>
        <p:txBody>
          <a:bodyPr wrap="square">
            <a:spAutoFit/>
          </a:bodyPr>
          <a:lstStyle/>
          <a:p>
            <a:pPr algn="l"/>
            <a:r>
              <a:rPr sz="3600" b="1">
                <a:solidFill>
                  <a:srgbClr val="DDAD4C"/>
                </a:solidFill>
                <a:latin typeface="Aptos Display"/>
              </a:rPr>
              <a:t>Global Movie
Success Analysis</a:t>
            </a:r>
          </a:p>
        </p:txBody>
      </p:sp>
      <p:sp>
        <p:nvSpPr>
          <p:cNvPr id="4" name="TextBox 3"/>
          <p:cNvSpPr txBox="1"/>
          <p:nvPr/>
        </p:nvSpPr>
        <p:spPr>
          <a:xfrm>
            <a:off x="255118" y="2698496"/>
            <a:ext cx="3480816" cy="877163"/>
          </a:xfrm>
          <a:prstGeom prst="rect">
            <a:avLst/>
          </a:prstGeom>
          <a:noFill/>
        </p:spPr>
        <p:txBody>
          <a:bodyPr wrap="square">
            <a:spAutoFit/>
          </a:bodyPr>
          <a:lstStyle/>
          <a:p>
            <a:pPr algn="l"/>
            <a:r>
              <a:rPr sz="1700" b="0" dirty="0">
                <a:solidFill>
                  <a:srgbClr val="F2F3F5"/>
                </a:solidFill>
                <a:latin typeface="Aptos"/>
              </a:rPr>
              <a:t>Understanding the factors associated with commercial success</a:t>
            </a:r>
          </a:p>
        </p:txBody>
      </p:sp>
      <p:sp>
        <p:nvSpPr>
          <p:cNvPr id="5" name="TextBox 4"/>
          <p:cNvSpPr txBox="1"/>
          <p:nvPr/>
        </p:nvSpPr>
        <p:spPr>
          <a:xfrm>
            <a:off x="258064" y="3870960"/>
            <a:ext cx="3851656" cy="307777"/>
          </a:xfrm>
          <a:prstGeom prst="rect">
            <a:avLst/>
          </a:prstGeom>
          <a:noFill/>
        </p:spPr>
        <p:txBody>
          <a:bodyPr wrap="square">
            <a:spAutoFit/>
          </a:bodyPr>
          <a:lstStyle/>
          <a:p>
            <a:pPr algn="l"/>
            <a:r>
              <a:rPr sz="1400" b="0">
                <a:solidFill>
                  <a:srgbClr val="A4A9B4"/>
                </a:solidFill>
                <a:latin typeface="Aptos"/>
              </a:rPr>
              <a:t>Python EDA  •  Power BI  •  Business Insights</a:t>
            </a:r>
          </a:p>
        </p:txBody>
      </p:sp>
      <p:sp>
        <p:nvSpPr>
          <p:cNvPr id="6" name="Rounded Rectangle 5"/>
          <p:cNvSpPr/>
          <p:nvPr/>
        </p:nvSpPr>
        <p:spPr>
          <a:xfrm>
            <a:off x="258064" y="4800600"/>
            <a:ext cx="3285236" cy="100584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8065" y="4810760"/>
            <a:ext cx="3237178" cy="338554"/>
          </a:xfrm>
          <a:prstGeom prst="rect">
            <a:avLst/>
          </a:prstGeom>
          <a:noFill/>
        </p:spPr>
        <p:txBody>
          <a:bodyPr wrap="square">
            <a:spAutoFit/>
          </a:bodyPr>
          <a:lstStyle/>
          <a:p>
            <a:pPr algn="ctr"/>
            <a:r>
              <a:rPr sz="1600" b="1" dirty="0">
                <a:solidFill>
                  <a:srgbClr val="DDAD4C"/>
                </a:solidFill>
                <a:latin typeface="Aptos"/>
              </a:rPr>
              <a:t>TEAM</a:t>
            </a:r>
            <a:r>
              <a:rPr lang="en-IN" sz="1600" b="1" dirty="0">
                <a:solidFill>
                  <a:srgbClr val="DDAD4C"/>
                </a:solidFill>
                <a:latin typeface="Aptos"/>
              </a:rPr>
              <a:t> 3</a:t>
            </a:r>
            <a:endParaRPr sz="1600" b="1" dirty="0">
              <a:solidFill>
                <a:srgbClr val="DDAD4C"/>
              </a:solidFill>
              <a:latin typeface="Aptos"/>
            </a:endParaRPr>
          </a:p>
        </p:txBody>
      </p:sp>
      <p:sp>
        <p:nvSpPr>
          <p:cNvPr id="8" name="TextBox 7"/>
          <p:cNvSpPr txBox="1"/>
          <p:nvPr/>
        </p:nvSpPr>
        <p:spPr>
          <a:xfrm>
            <a:off x="234036" y="5095085"/>
            <a:ext cx="3285236" cy="646331"/>
          </a:xfrm>
          <a:prstGeom prst="rect">
            <a:avLst/>
          </a:prstGeom>
          <a:noFill/>
        </p:spPr>
        <p:txBody>
          <a:bodyPr wrap="square">
            <a:spAutoFit/>
          </a:bodyPr>
          <a:lstStyle/>
          <a:p>
            <a:pPr algn="ctr"/>
            <a:r>
              <a:rPr lang="en-IN" b="1" dirty="0">
                <a:solidFill>
                  <a:srgbClr val="F2F3F5"/>
                </a:solidFill>
                <a:latin typeface="Aptos"/>
              </a:rPr>
              <a:t>Keshav Baheti</a:t>
            </a:r>
            <a:br>
              <a:rPr lang="en-IN" b="1" dirty="0">
                <a:solidFill>
                  <a:srgbClr val="F2F3F5"/>
                </a:solidFill>
                <a:latin typeface="Aptos"/>
              </a:rPr>
            </a:br>
            <a:r>
              <a:rPr lang="en-IN" b="1" dirty="0">
                <a:solidFill>
                  <a:srgbClr val="F2F3F5"/>
                </a:solidFill>
                <a:latin typeface="Aptos"/>
              </a:rPr>
              <a:t>Piyush Dave</a:t>
            </a:r>
            <a:endParaRPr b="1" dirty="0">
              <a:solidFill>
                <a:srgbClr val="F2F3F5"/>
              </a:solidFill>
              <a:latin typeface="Aptos"/>
            </a:endParaRPr>
          </a:p>
        </p:txBody>
      </p:sp>
      <p:pic>
        <p:nvPicPr>
          <p:cNvPr id="15" name="Picture 14">
            <a:extLst>
              <a:ext uri="{FF2B5EF4-FFF2-40B4-BE49-F238E27FC236}">
                <a16:creationId xmlns:a16="http://schemas.microsoft.com/office/drawing/2014/main" id="{761EC940-B8D5-5E0B-5D08-AB22AEE7726F}"/>
              </a:ext>
            </a:extLst>
          </p:cNvPr>
          <p:cNvPicPr>
            <a:picLocks noChangeAspect="1"/>
          </p:cNvPicPr>
          <p:nvPr/>
        </p:nvPicPr>
        <p:blipFill>
          <a:blip r:embed="rId3"/>
          <a:srcRect l="1013" t="6014" r="5536" b="4898"/>
          <a:stretch>
            <a:fillRect/>
          </a:stretch>
        </p:blipFill>
        <p:spPr>
          <a:xfrm>
            <a:off x="3956304" y="689610"/>
            <a:ext cx="8128000" cy="5619750"/>
          </a:xfrm>
          <a:prstGeom prst="rect">
            <a:avLst/>
          </a:prstGeom>
          <a:ln w="6350">
            <a:solidFill>
              <a:schemeClr val="bg1"/>
            </a:solidFill>
          </a:ln>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2" name="TextBox 1"/>
          <p:cNvSpPr txBox="1"/>
          <p:nvPr/>
        </p:nvSpPr>
        <p:spPr>
          <a:xfrm>
            <a:off x="379984" y="310449"/>
            <a:ext cx="713231" cy="646331"/>
          </a:xfrm>
          <a:prstGeom prst="rect">
            <a:avLst/>
          </a:prstGeom>
          <a:noFill/>
        </p:spPr>
        <p:txBody>
          <a:bodyPr wrap="square">
            <a:spAutoFit/>
          </a:bodyPr>
          <a:lstStyle/>
          <a:p>
            <a:pPr algn="l"/>
            <a:r>
              <a:rPr sz="3600" b="1" dirty="0">
                <a:solidFill>
                  <a:srgbClr val="DDAD4C"/>
                </a:solidFill>
                <a:latin typeface="Aptos"/>
              </a:rPr>
              <a:t>02</a:t>
            </a:r>
            <a:endParaRPr sz="2000" b="1" dirty="0">
              <a:solidFill>
                <a:srgbClr val="DDAD4C"/>
              </a:solidFill>
              <a:latin typeface="Aptos"/>
            </a:endParaRPr>
          </a:p>
        </p:txBody>
      </p:sp>
      <p:sp>
        <p:nvSpPr>
          <p:cNvPr id="3" name="TextBox 2"/>
          <p:cNvSpPr txBox="1"/>
          <p:nvPr/>
        </p:nvSpPr>
        <p:spPr>
          <a:xfrm>
            <a:off x="1024128" y="274320"/>
            <a:ext cx="9875520" cy="502920"/>
          </a:xfrm>
          <a:prstGeom prst="rect">
            <a:avLst/>
          </a:prstGeom>
          <a:noFill/>
        </p:spPr>
        <p:txBody>
          <a:bodyPr wrap="square">
            <a:spAutoFit/>
          </a:bodyPr>
          <a:lstStyle/>
          <a:p>
            <a:pPr algn="l"/>
            <a:r>
              <a:rPr sz="2700" b="1" dirty="0">
                <a:solidFill>
                  <a:srgbClr val="DDAD4C"/>
                </a:solidFill>
                <a:latin typeface="Aptos Display"/>
              </a:rPr>
              <a:t>Business Problem &amp; Project Objective</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1" dirty="0">
                <a:solidFill>
                  <a:srgbClr val="A4A9B4"/>
                </a:solidFill>
                <a:latin typeface="Aptos"/>
              </a:rPr>
              <a:t>What are we trying to understand?</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591056"/>
            <a:ext cx="5321808" cy="15087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4840" y="1611376"/>
            <a:ext cx="5227320" cy="338554"/>
          </a:xfrm>
          <a:prstGeom prst="rect">
            <a:avLst/>
          </a:prstGeom>
          <a:noFill/>
        </p:spPr>
        <p:txBody>
          <a:bodyPr wrap="square">
            <a:spAutoFit/>
          </a:bodyPr>
          <a:lstStyle/>
          <a:p>
            <a:pPr algn="ctr"/>
            <a:r>
              <a:rPr sz="1600" b="1" dirty="0">
                <a:solidFill>
                  <a:srgbClr val="DDAD4C"/>
                </a:solidFill>
                <a:latin typeface="Aptos"/>
              </a:rPr>
              <a:t>BUSINESS PROBLEM</a:t>
            </a:r>
          </a:p>
        </p:txBody>
      </p:sp>
      <p:sp>
        <p:nvSpPr>
          <p:cNvPr id="8" name="TextBox 7"/>
          <p:cNvSpPr txBox="1"/>
          <p:nvPr/>
        </p:nvSpPr>
        <p:spPr>
          <a:xfrm>
            <a:off x="804672" y="1996440"/>
            <a:ext cx="4864608" cy="984885"/>
          </a:xfrm>
          <a:prstGeom prst="rect">
            <a:avLst/>
          </a:prstGeom>
          <a:noFill/>
        </p:spPr>
        <p:txBody>
          <a:bodyPr wrap="square">
            <a:spAutoFit/>
          </a:bodyPr>
          <a:lstStyle/>
          <a:p>
            <a:pPr algn="l"/>
            <a:r>
              <a:rPr sz="1450" b="0" dirty="0">
                <a:solidFill>
                  <a:srgbClr val="F2F3F5"/>
                </a:solidFill>
                <a:latin typeface="Aptos"/>
              </a:rPr>
              <a:t>Movie success depends on multiple factors. This project analyzes financial performance, genre, audience reception and crew performance to identify patterns associated with commercial success.</a:t>
            </a:r>
          </a:p>
        </p:txBody>
      </p:sp>
      <p:sp>
        <p:nvSpPr>
          <p:cNvPr id="9" name="Rounded Rectangle 8"/>
          <p:cNvSpPr/>
          <p:nvPr/>
        </p:nvSpPr>
        <p:spPr>
          <a:xfrm>
            <a:off x="6339840" y="1591056"/>
            <a:ext cx="5257800" cy="15087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4360" y="1611376"/>
            <a:ext cx="5212800" cy="338554"/>
          </a:xfrm>
          <a:prstGeom prst="rect">
            <a:avLst/>
          </a:prstGeom>
          <a:noFill/>
        </p:spPr>
        <p:txBody>
          <a:bodyPr wrap="square">
            <a:spAutoFit/>
          </a:bodyPr>
          <a:lstStyle/>
          <a:p>
            <a:pPr algn="ctr"/>
            <a:r>
              <a:rPr sz="1600" b="1" dirty="0">
                <a:solidFill>
                  <a:srgbClr val="DDAD4C"/>
                </a:solidFill>
                <a:latin typeface="Aptos"/>
              </a:rPr>
              <a:t>OBJECTIVE</a:t>
            </a:r>
          </a:p>
        </p:txBody>
      </p:sp>
      <p:sp>
        <p:nvSpPr>
          <p:cNvPr id="11" name="TextBox 10"/>
          <p:cNvSpPr txBox="1"/>
          <p:nvPr/>
        </p:nvSpPr>
        <p:spPr>
          <a:xfrm>
            <a:off x="6500766" y="2042160"/>
            <a:ext cx="4968858" cy="761747"/>
          </a:xfrm>
          <a:prstGeom prst="rect">
            <a:avLst/>
          </a:prstGeom>
          <a:noFill/>
        </p:spPr>
        <p:txBody>
          <a:bodyPr wrap="square">
            <a:spAutoFit/>
          </a:bodyPr>
          <a:lstStyle/>
          <a:p>
            <a:pPr algn="l"/>
            <a:r>
              <a:rPr sz="1450" b="0" dirty="0">
                <a:solidFill>
                  <a:srgbClr val="F2F3F5"/>
                </a:solidFill>
                <a:latin typeface="Aptos"/>
              </a:rPr>
              <a:t>Identify factors associated with movie commercial success using publicly available movie data and convert findings into actionable business insights.</a:t>
            </a:r>
          </a:p>
        </p:txBody>
      </p:sp>
      <p:sp>
        <p:nvSpPr>
          <p:cNvPr id="12" name="TextBox 11"/>
          <p:cNvSpPr txBox="1"/>
          <p:nvPr/>
        </p:nvSpPr>
        <p:spPr>
          <a:xfrm>
            <a:off x="658368" y="3675888"/>
            <a:ext cx="3657600" cy="338554"/>
          </a:xfrm>
          <a:prstGeom prst="rect">
            <a:avLst/>
          </a:prstGeom>
          <a:noFill/>
        </p:spPr>
        <p:txBody>
          <a:bodyPr wrap="square">
            <a:spAutoFit/>
          </a:bodyPr>
          <a:lstStyle/>
          <a:p>
            <a:pPr algn="l"/>
            <a:r>
              <a:rPr sz="1600" b="1" dirty="0">
                <a:solidFill>
                  <a:srgbClr val="DDAD4C"/>
                </a:solidFill>
                <a:latin typeface="Aptos"/>
              </a:rPr>
              <a:t>FOUR BUSINESS QUESTIONS</a:t>
            </a:r>
          </a:p>
        </p:txBody>
      </p:sp>
      <p:sp>
        <p:nvSpPr>
          <p:cNvPr id="13" name="Rounded Rectangle 12"/>
          <p:cNvSpPr/>
          <p:nvPr/>
        </p:nvSpPr>
        <p:spPr>
          <a:xfrm>
            <a:off x="658368" y="4160520"/>
            <a:ext cx="5257800" cy="804672"/>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4298347"/>
            <a:ext cx="5038344" cy="584775"/>
          </a:xfrm>
          <a:prstGeom prst="rect">
            <a:avLst/>
          </a:prstGeom>
          <a:noFill/>
        </p:spPr>
        <p:txBody>
          <a:bodyPr wrap="square">
            <a:spAutoFit/>
          </a:bodyPr>
          <a:lstStyle/>
          <a:p>
            <a:pPr algn="l"/>
            <a:r>
              <a:rPr sz="1600" b="0" dirty="0">
                <a:solidFill>
                  <a:srgbClr val="F2F3F5"/>
                </a:solidFill>
                <a:latin typeface="Aptos"/>
              </a:rPr>
              <a:t>01  Does a higher budget lead to greater box office revenue?</a:t>
            </a:r>
          </a:p>
        </p:txBody>
      </p:sp>
      <p:sp>
        <p:nvSpPr>
          <p:cNvPr id="15" name="Rounded Rectangle 14"/>
          <p:cNvSpPr/>
          <p:nvPr/>
        </p:nvSpPr>
        <p:spPr>
          <a:xfrm>
            <a:off x="6281928" y="4160520"/>
            <a:ext cx="5257800" cy="804672"/>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83096" y="4298347"/>
            <a:ext cx="4855464" cy="584775"/>
          </a:xfrm>
          <a:prstGeom prst="rect">
            <a:avLst/>
          </a:prstGeom>
          <a:noFill/>
        </p:spPr>
        <p:txBody>
          <a:bodyPr wrap="square">
            <a:spAutoFit/>
          </a:bodyPr>
          <a:lstStyle/>
          <a:p>
            <a:pPr algn="l"/>
            <a:r>
              <a:rPr sz="1600" dirty="0">
                <a:solidFill>
                  <a:srgbClr val="F2F3F5"/>
                </a:solidFill>
                <a:latin typeface="Aptos"/>
              </a:rPr>
              <a:t>02  Which movie genres generate the highest revenue?</a:t>
            </a:r>
          </a:p>
        </p:txBody>
      </p:sp>
      <p:sp>
        <p:nvSpPr>
          <p:cNvPr id="17" name="Rounded Rectangle 16"/>
          <p:cNvSpPr/>
          <p:nvPr/>
        </p:nvSpPr>
        <p:spPr>
          <a:xfrm>
            <a:off x="658368" y="5166360"/>
            <a:ext cx="5257800" cy="804672"/>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5294375"/>
            <a:ext cx="4855464" cy="584775"/>
          </a:xfrm>
          <a:prstGeom prst="rect">
            <a:avLst/>
          </a:prstGeom>
          <a:noFill/>
        </p:spPr>
        <p:txBody>
          <a:bodyPr wrap="square">
            <a:spAutoFit/>
          </a:bodyPr>
          <a:lstStyle/>
          <a:p>
            <a:pPr algn="l"/>
            <a:r>
              <a:rPr sz="1600" dirty="0">
                <a:solidFill>
                  <a:srgbClr val="F2F3F5"/>
                </a:solidFill>
                <a:latin typeface="Aptos"/>
              </a:rPr>
              <a:t>03  Is there a relationship between audience ratings and commercial success?</a:t>
            </a:r>
          </a:p>
        </p:txBody>
      </p:sp>
      <p:sp>
        <p:nvSpPr>
          <p:cNvPr id="19" name="Rounded Rectangle 18"/>
          <p:cNvSpPr/>
          <p:nvPr/>
        </p:nvSpPr>
        <p:spPr>
          <a:xfrm>
            <a:off x="6281928" y="5166360"/>
            <a:ext cx="5257800" cy="804672"/>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77000" y="5276308"/>
            <a:ext cx="4855464" cy="584775"/>
          </a:xfrm>
          <a:prstGeom prst="rect">
            <a:avLst/>
          </a:prstGeom>
          <a:noFill/>
        </p:spPr>
        <p:txBody>
          <a:bodyPr wrap="square">
            <a:spAutoFit/>
          </a:bodyPr>
          <a:lstStyle/>
          <a:p>
            <a:pPr algn="l"/>
            <a:r>
              <a:rPr sz="1600" dirty="0">
                <a:solidFill>
                  <a:srgbClr val="F2F3F5"/>
                </a:solidFill>
                <a:latin typeface="Aptos"/>
              </a:rPr>
              <a:t>04  Which directors or actors consistently deliver successful movies?</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2" name="TextBox 1"/>
          <p:cNvSpPr txBox="1"/>
          <p:nvPr/>
        </p:nvSpPr>
        <p:spPr>
          <a:xfrm>
            <a:off x="373888" y="310896"/>
            <a:ext cx="685800" cy="646331"/>
          </a:xfrm>
          <a:prstGeom prst="rect">
            <a:avLst/>
          </a:prstGeom>
          <a:noFill/>
        </p:spPr>
        <p:txBody>
          <a:bodyPr wrap="square">
            <a:spAutoFit/>
          </a:bodyPr>
          <a:lstStyle/>
          <a:p>
            <a:pPr algn="l"/>
            <a:r>
              <a:rPr sz="3600" b="1" dirty="0">
                <a:solidFill>
                  <a:srgbClr val="DDAD4C"/>
                </a:solidFill>
                <a:latin typeface="Aptos"/>
              </a:rPr>
              <a:t>03</a:t>
            </a:r>
          </a:p>
        </p:txBody>
      </p:sp>
      <p:sp>
        <p:nvSpPr>
          <p:cNvPr id="3" name="TextBox 2"/>
          <p:cNvSpPr txBox="1"/>
          <p:nvPr/>
        </p:nvSpPr>
        <p:spPr>
          <a:xfrm>
            <a:off x="1024128" y="284480"/>
            <a:ext cx="9875520" cy="502920"/>
          </a:xfrm>
          <a:prstGeom prst="rect">
            <a:avLst/>
          </a:prstGeom>
          <a:noFill/>
        </p:spPr>
        <p:txBody>
          <a:bodyPr wrap="square">
            <a:spAutoFit/>
          </a:bodyPr>
          <a:lstStyle/>
          <a:p>
            <a:pPr algn="l"/>
            <a:r>
              <a:rPr sz="2700" b="1">
                <a:solidFill>
                  <a:srgbClr val="DDAD4C"/>
                </a:solidFill>
                <a:latin typeface="Aptos Display"/>
              </a:rPr>
              <a:t>Data Collection &amp; Dataset</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1" dirty="0">
                <a:solidFill>
                  <a:srgbClr val="A4A9B4"/>
                </a:solidFill>
                <a:latin typeface="Aptos"/>
              </a:rPr>
              <a:t>From raw movie data to an analysis-ready dataset</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417320"/>
            <a:ext cx="3703320" cy="452628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435608"/>
            <a:ext cx="3703319" cy="338554"/>
          </a:xfrm>
          <a:prstGeom prst="rect">
            <a:avLst/>
          </a:prstGeom>
          <a:noFill/>
        </p:spPr>
        <p:txBody>
          <a:bodyPr wrap="square">
            <a:spAutoFit/>
          </a:bodyPr>
          <a:lstStyle/>
          <a:p>
            <a:pPr algn="ctr"/>
            <a:r>
              <a:rPr sz="1600" b="1" dirty="0">
                <a:solidFill>
                  <a:srgbClr val="DDAD4C"/>
                </a:solidFill>
                <a:latin typeface="Aptos"/>
              </a:rPr>
              <a:t>DATA SOURCE</a:t>
            </a:r>
          </a:p>
        </p:txBody>
      </p:sp>
      <p:sp>
        <p:nvSpPr>
          <p:cNvPr id="8" name="TextBox 7"/>
          <p:cNvSpPr txBox="1"/>
          <p:nvPr/>
        </p:nvSpPr>
        <p:spPr>
          <a:xfrm>
            <a:off x="558801" y="1956816"/>
            <a:ext cx="3364992" cy="3554819"/>
          </a:xfrm>
          <a:prstGeom prst="rect">
            <a:avLst/>
          </a:prstGeom>
          <a:noFill/>
        </p:spPr>
        <p:txBody>
          <a:bodyPr wrap="square">
            <a:spAutoFit/>
          </a:bodyPr>
          <a:lstStyle/>
          <a:p>
            <a:r>
              <a:rPr lang="en-IN" sz="1500" dirty="0">
                <a:solidFill>
                  <a:srgbClr val="F2F3F5"/>
                </a:solidFill>
                <a:latin typeface="Aptos"/>
              </a:rPr>
              <a:t>Data Type: </a:t>
            </a:r>
            <a:r>
              <a:rPr sz="1500" dirty="0">
                <a:solidFill>
                  <a:srgbClr val="F2F3F5"/>
                </a:solidFill>
                <a:latin typeface="Aptos"/>
              </a:rPr>
              <a:t>Publicly available movie data
Source: Kaggle </a:t>
            </a:r>
            <a:br>
              <a:rPr lang="en-IN" sz="1500" dirty="0">
                <a:solidFill>
                  <a:srgbClr val="F2F3F5"/>
                </a:solidFill>
                <a:latin typeface="Aptos"/>
              </a:rPr>
            </a:br>
            <a:br>
              <a:rPr lang="en-IN" sz="1500" dirty="0">
                <a:solidFill>
                  <a:srgbClr val="F2F3F5"/>
                </a:solidFill>
                <a:latin typeface="Aptos"/>
              </a:rPr>
            </a:br>
            <a:r>
              <a:rPr lang="en-IN" sz="1500" dirty="0">
                <a:solidFill>
                  <a:srgbClr val="F2F3F5"/>
                </a:solidFill>
                <a:latin typeface="Aptos"/>
              </a:rPr>
              <a:t>Dataset: </a:t>
            </a:r>
            <a:br>
              <a:rPr lang="en-IN" sz="1500" dirty="0">
                <a:solidFill>
                  <a:srgbClr val="F2F3F5"/>
                </a:solidFill>
                <a:latin typeface="Aptos"/>
              </a:rPr>
            </a:br>
            <a:r>
              <a:rPr lang="en-IN" sz="1500" dirty="0">
                <a:solidFill>
                  <a:srgbClr val="F2F3F5"/>
                </a:solidFill>
                <a:latin typeface="Aptos"/>
              </a:rPr>
              <a:t>Global Movies Dataset ( 1950 –2026 )</a:t>
            </a:r>
            <a:r>
              <a:rPr sz="1500" dirty="0">
                <a:solidFill>
                  <a:srgbClr val="F2F3F5"/>
                </a:solidFill>
                <a:latin typeface="Aptos"/>
              </a:rPr>
              <a:t>
Dataset size:</a:t>
            </a:r>
            <a:r>
              <a:rPr lang="en-IN" sz="1500" dirty="0">
                <a:solidFill>
                  <a:srgbClr val="F2F3F5"/>
                </a:solidFill>
                <a:latin typeface="Aptos"/>
              </a:rPr>
              <a:t> 100k+ records</a:t>
            </a:r>
            <a:br>
              <a:rPr lang="en-IN" sz="1500" dirty="0">
                <a:solidFill>
                  <a:srgbClr val="F2F3F5"/>
                </a:solidFill>
                <a:latin typeface="Aptos"/>
              </a:rPr>
            </a:br>
            <a:br>
              <a:rPr lang="en-IN" sz="1500" dirty="0">
                <a:solidFill>
                  <a:srgbClr val="F2F3F5"/>
                </a:solidFill>
                <a:latin typeface="Aptos"/>
              </a:rPr>
            </a:br>
            <a:r>
              <a:rPr lang="en-IN" sz="1500" dirty="0">
                <a:solidFill>
                  <a:srgbClr val="F2F3F5"/>
                </a:solidFill>
                <a:latin typeface="Aptos"/>
              </a:rPr>
              <a:t>Period: 1950 – 2026</a:t>
            </a:r>
            <a:br>
              <a:rPr lang="en-IN" sz="1500" dirty="0">
                <a:solidFill>
                  <a:srgbClr val="F2F3F5"/>
                </a:solidFill>
                <a:latin typeface="Aptos"/>
              </a:rPr>
            </a:br>
            <a:br>
              <a:rPr lang="en-IN" sz="1500" dirty="0">
                <a:solidFill>
                  <a:srgbClr val="F2F3F5"/>
                </a:solidFill>
                <a:latin typeface="Aptos"/>
              </a:rPr>
            </a:br>
            <a:r>
              <a:rPr lang="en-IN" sz="1500" dirty="0">
                <a:solidFill>
                  <a:srgbClr val="F2F3F5"/>
                </a:solidFill>
                <a:latin typeface="Aptos"/>
              </a:rPr>
              <a:t>Kaggle: </a:t>
            </a:r>
            <a:br>
              <a:rPr lang="en-IN" sz="1500" dirty="0">
                <a:solidFill>
                  <a:srgbClr val="F2F3F5"/>
                </a:solidFill>
                <a:latin typeface="Aptos"/>
              </a:rPr>
            </a:br>
            <a:r>
              <a:rPr lang="en-IN" sz="1500" b="1" dirty="0">
                <a:solidFill>
                  <a:srgbClr val="6699FF"/>
                </a:solidFill>
                <a:latin typeface="Aptos"/>
                <a:hlinkClick r:id="rId2">
                  <a:extLst>
                    <a:ext uri="{A12FA001-AC4F-418D-AE19-62706E023703}">
                      <ahyp:hlinkClr xmlns:ahyp="http://schemas.microsoft.com/office/drawing/2018/hyperlinkcolor" val="tx"/>
                    </a:ext>
                  </a:extLst>
                </a:hlinkClick>
              </a:rPr>
              <a:t>Global Movies Dataset 1950–2026</a:t>
            </a:r>
            <a:r>
              <a:rPr sz="1500" dirty="0">
                <a:solidFill>
                  <a:srgbClr val="F2F3F5"/>
                </a:solidFill>
                <a:latin typeface="Aptos"/>
              </a:rPr>
              <a:t>
</a:t>
            </a:r>
          </a:p>
        </p:txBody>
      </p:sp>
      <p:sp>
        <p:nvSpPr>
          <p:cNvPr id="9" name="Rounded Rectangle 8"/>
          <p:cNvSpPr/>
          <p:nvPr/>
        </p:nvSpPr>
        <p:spPr>
          <a:xfrm>
            <a:off x="4297680" y="1417320"/>
            <a:ext cx="3474720" cy="452628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80" y="1435607"/>
            <a:ext cx="3474720" cy="338554"/>
          </a:xfrm>
          <a:prstGeom prst="rect">
            <a:avLst/>
          </a:prstGeom>
          <a:noFill/>
        </p:spPr>
        <p:txBody>
          <a:bodyPr wrap="square">
            <a:spAutoFit/>
          </a:bodyPr>
          <a:lstStyle/>
          <a:p>
            <a:pPr algn="ctr"/>
            <a:r>
              <a:rPr sz="1600" b="1" dirty="0">
                <a:solidFill>
                  <a:srgbClr val="DDAD4C"/>
                </a:solidFill>
                <a:latin typeface="Aptos"/>
              </a:rPr>
              <a:t>KEY FIELDS</a:t>
            </a:r>
          </a:p>
        </p:txBody>
      </p:sp>
      <p:sp>
        <p:nvSpPr>
          <p:cNvPr id="11" name="TextBox 10"/>
          <p:cNvSpPr txBox="1"/>
          <p:nvPr/>
        </p:nvSpPr>
        <p:spPr>
          <a:xfrm>
            <a:off x="4498848" y="1757680"/>
            <a:ext cx="3072384" cy="3939284"/>
          </a:xfrm>
          <a:prstGeom prst="rect">
            <a:avLst/>
          </a:prstGeom>
          <a:noFill/>
        </p:spPr>
        <p:txBody>
          <a:bodyPr wrap="square">
            <a:spAutoFit/>
          </a:bodyPr>
          <a:lstStyle/>
          <a:p>
            <a:pPr marL="285750" indent="-285750" algn="l">
              <a:lnSpc>
                <a:spcPct val="150000"/>
              </a:lnSpc>
              <a:buFont typeface="Wingdings" panose="05000000000000000000" pitchFamily="2" charset="2"/>
              <a:buChar char="Ø"/>
            </a:pPr>
            <a:r>
              <a:rPr sz="1400" b="0" dirty="0">
                <a:solidFill>
                  <a:srgbClr val="F2F3F5"/>
                </a:solidFill>
                <a:latin typeface="Aptos"/>
              </a:rPr>
              <a:t> Budget
 Revenue
 Profit
 ROI
 Genre / Sub-genre
 IMDb rating
 Audience score
 Meta score
 Director
 Actor
 Release year
 Popularity / awards / flags</a:t>
            </a:r>
          </a:p>
        </p:txBody>
      </p:sp>
      <p:sp>
        <p:nvSpPr>
          <p:cNvPr id="12" name="Rounded Rectangle 11"/>
          <p:cNvSpPr/>
          <p:nvPr/>
        </p:nvSpPr>
        <p:spPr>
          <a:xfrm>
            <a:off x="8001000" y="1417320"/>
            <a:ext cx="3566160" cy="452628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01000" y="1444752"/>
            <a:ext cx="3566160" cy="338554"/>
          </a:xfrm>
          <a:prstGeom prst="rect">
            <a:avLst/>
          </a:prstGeom>
          <a:noFill/>
        </p:spPr>
        <p:txBody>
          <a:bodyPr wrap="square">
            <a:spAutoFit/>
          </a:bodyPr>
          <a:lstStyle/>
          <a:p>
            <a:pPr algn="ctr"/>
            <a:r>
              <a:rPr sz="1600" b="1" dirty="0">
                <a:solidFill>
                  <a:srgbClr val="DDAD4C"/>
                </a:solidFill>
                <a:latin typeface="Aptos"/>
              </a:rPr>
              <a:t>PREPARATION</a:t>
            </a:r>
          </a:p>
        </p:txBody>
      </p:sp>
      <p:sp>
        <p:nvSpPr>
          <p:cNvPr id="14" name="TextBox 13"/>
          <p:cNvSpPr txBox="1"/>
          <p:nvPr/>
        </p:nvSpPr>
        <p:spPr>
          <a:xfrm>
            <a:off x="8202168" y="1920240"/>
            <a:ext cx="3163824" cy="3380862"/>
          </a:xfrm>
          <a:prstGeom prst="rect">
            <a:avLst/>
          </a:prstGeom>
          <a:noFill/>
        </p:spPr>
        <p:txBody>
          <a:bodyPr wrap="square">
            <a:spAutoFit/>
          </a:bodyPr>
          <a:lstStyle/>
          <a:p>
            <a:pPr algn="l">
              <a:lnSpc>
                <a:spcPct val="150000"/>
              </a:lnSpc>
            </a:pPr>
            <a:r>
              <a:rPr sz="1600" b="0" dirty="0">
                <a:solidFill>
                  <a:srgbClr val="F2F3F5"/>
                </a:solidFill>
                <a:latin typeface="Aptos"/>
              </a:rPr>
              <a:t>Python was used for data cleaning, EDA, outlier analysis and visualization.
Revenue capping was used in the crew analysis to reduce the influence of extreme revenue values.
</a:t>
            </a:r>
            <a:endParaRPr sz="1600" b="1" dirty="0">
              <a:solidFill>
                <a:srgbClr val="FF0000"/>
              </a:solidFill>
              <a:latin typeface="Aptos"/>
            </a:endParaRPr>
          </a:p>
        </p:txBody>
      </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152400"/>
            <a:ext cx="9875520" cy="502920"/>
          </a:xfrm>
          <a:prstGeom prst="rect">
            <a:avLst/>
          </a:prstGeom>
          <a:noFill/>
        </p:spPr>
        <p:txBody>
          <a:bodyPr wrap="square">
            <a:spAutoFit/>
          </a:bodyPr>
          <a:lstStyle/>
          <a:p>
            <a:pPr algn="l"/>
            <a:r>
              <a:rPr sz="2700" b="1" dirty="0">
                <a:solidFill>
                  <a:srgbClr val="DDAD4C"/>
                </a:solidFill>
                <a:latin typeface="Aptos Display"/>
              </a:rPr>
              <a:t>Python </a:t>
            </a:r>
            <a:r>
              <a:rPr lang="en-IN" sz="2700" b="1" dirty="0">
                <a:solidFill>
                  <a:srgbClr val="DDAD4C"/>
                </a:solidFill>
                <a:latin typeface="Aptos Display"/>
              </a:rPr>
              <a:t>-</a:t>
            </a:r>
            <a:r>
              <a:rPr sz="2700" b="1" dirty="0">
                <a:solidFill>
                  <a:srgbClr val="DDAD4C"/>
                </a:solidFill>
                <a:latin typeface="Aptos Display"/>
              </a:rPr>
              <a:t> Data Cleaning, EDA &amp; Insights</a:t>
            </a:r>
          </a:p>
        </p:txBody>
      </p:sp>
      <p:sp>
        <p:nvSpPr>
          <p:cNvPr id="4" name="TextBox 3"/>
          <p:cNvSpPr txBox="1"/>
          <p:nvPr/>
        </p:nvSpPr>
        <p:spPr>
          <a:xfrm>
            <a:off x="1033271" y="617728"/>
            <a:ext cx="10332720" cy="307777"/>
          </a:xfrm>
          <a:prstGeom prst="rect">
            <a:avLst/>
          </a:prstGeom>
          <a:noFill/>
        </p:spPr>
        <p:txBody>
          <a:bodyPr wrap="square">
            <a:spAutoFit/>
          </a:bodyPr>
          <a:lstStyle/>
          <a:p>
            <a:pPr algn="l"/>
            <a:r>
              <a:rPr sz="1400" b="1" dirty="0">
                <a:solidFill>
                  <a:srgbClr val="A4A9B4"/>
                </a:solidFill>
                <a:latin typeface="Aptos"/>
              </a:rPr>
              <a:t>How the dataset was prepared and explored</a:t>
            </a:r>
          </a:p>
        </p:txBody>
      </p:sp>
      <p:sp>
        <p:nvSpPr>
          <p:cNvPr id="5" name="Rectangle 4"/>
          <p:cNvSpPr/>
          <p:nvPr/>
        </p:nvSpPr>
        <p:spPr>
          <a:xfrm>
            <a:off x="502920" y="94996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61960" y="1364417"/>
            <a:ext cx="3931920" cy="1287343"/>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90408" y="1372616"/>
            <a:ext cx="3903472" cy="338554"/>
          </a:xfrm>
          <a:prstGeom prst="rect">
            <a:avLst/>
          </a:prstGeom>
          <a:noFill/>
        </p:spPr>
        <p:txBody>
          <a:bodyPr wrap="square">
            <a:spAutoFit/>
          </a:bodyPr>
          <a:lstStyle/>
          <a:p>
            <a:pPr algn="ctr"/>
            <a:r>
              <a:rPr sz="1600" b="1" dirty="0">
                <a:solidFill>
                  <a:srgbClr val="DDAD4C"/>
                </a:solidFill>
                <a:latin typeface="Aptos"/>
              </a:rPr>
              <a:t>DATA CLEANING</a:t>
            </a:r>
          </a:p>
        </p:txBody>
      </p:sp>
      <p:sp>
        <p:nvSpPr>
          <p:cNvPr id="11" name="TextBox 10"/>
          <p:cNvSpPr txBox="1"/>
          <p:nvPr/>
        </p:nvSpPr>
        <p:spPr>
          <a:xfrm>
            <a:off x="8263128" y="1757680"/>
            <a:ext cx="3529584" cy="738664"/>
          </a:xfrm>
          <a:prstGeom prst="rect">
            <a:avLst/>
          </a:prstGeom>
          <a:noFill/>
        </p:spPr>
        <p:txBody>
          <a:bodyPr wrap="square">
            <a:spAutoFit/>
          </a:bodyPr>
          <a:lstStyle/>
          <a:p>
            <a:pPr algn="l"/>
            <a:r>
              <a:rPr sz="1400" b="0" dirty="0">
                <a:solidFill>
                  <a:srgbClr val="F2F3F5"/>
                </a:solidFill>
                <a:latin typeface="Aptos"/>
              </a:rPr>
              <a:t>Missing values</a:t>
            </a:r>
            <a:r>
              <a:rPr lang="en-IN" sz="1400" b="0" dirty="0">
                <a:solidFill>
                  <a:srgbClr val="F2F3F5"/>
                </a:solidFill>
                <a:latin typeface="Aptos"/>
              </a:rPr>
              <a:t> | </a:t>
            </a:r>
            <a:r>
              <a:rPr lang="en-IN" sz="1400" dirty="0">
                <a:solidFill>
                  <a:srgbClr val="F2F3F5"/>
                </a:solidFill>
                <a:latin typeface="Aptos"/>
              </a:rPr>
              <a:t>D</a:t>
            </a:r>
            <a:r>
              <a:rPr sz="1400" b="0" dirty="0" err="1">
                <a:solidFill>
                  <a:srgbClr val="F2F3F5"/>
                </a:solidFill>
                <a:latin typeface="Aptos"/>
              </a:rPr>
              <a:t>uplicates</a:t>
            </a:r>
            <a:r>
              <a:rPr lang="en-IN" sz="1400" b="0" dirty="0">
                <a:solidFill>
                  <a:srgbClr val="F2F3F5"/>
                </a:solidFill>
                <a:latin typeface="Aptos"/>
              </a:rPr>
              <a:t> Check | </a:t>
            </a:r>
            <a:r>
              <a:rPr lang="en-IN" sz="1400" dirty="0">
                <a:solidFill>
                  <a:srgbClr val="F2F3F5"/>
                </a:solidFill>
                <a:latin typeface="Aptos"/>
              </a:rPr>
              <a:t>D</a:t>
            </a:r>
            <a:r>
              <a:rPr sz="1400" b="0" dirty="0" err="1">
                <a:solidFill>
                  <a:srgbClr val="F2F3F5"/>
                </a:solidFill>
                <a:latin typeface="Aptos"/>
              </a:rPr>
              <a:t>ata</a:t>
            </a:r>
            <a:r>
              <a:rPr sz="1400" b="0" dirty="0">
                <a:solidFill>
                  <a:srgbClr val="F2F3F5"/>
                </a:solidFill>
                <a:latin typeface="Aptos"/>
              </a:rPr>
              <a:t> </a:t>
            </a:r>
            <a:r>
              <a:rPr lang="en-IN" sz="1400" dirty="0">
                <a:solidFill>
                  <a:srgbClr val="F2F3F5"/>
                </a:solidFill>
                <a:latin typeface="Aptos"/>
              </a:rPr>
              <a:t>T</a:t>
            </a:r>
            <a:r>
              <a:rPr sz="1400" b="0" dirty="0" err="1">
                <a:solidFill>
                  <a:srgbClr val="F2F3F5"/>
                </a:solidFill>
                <a:latin typeface="Aptos"/>
              </a:rPr>
              <a:t>ype</a:t>
            </a:r>
            <a:r>
              <a:rPr lang="en-IN" sz="1400" b="0" dirty="0">
                <a:solidFill>
                  <a:srgbClr val="F2F3F5"/>
                </a:solidFill>
                <a:latin typeface="Aptos"/>
              </a:rPr>
              <a:t> Check | D</a:t>
            </a:r>
            <a:r>
              <a:rPr sz="1400" b="0" dirty="0" err="1">
                <a:solidFill>
                  <a:srgbClr val="F2F3F5"/>
                </a:solidFill>
                <a:latin typeface="Aptos"/>
              </a:rPr>
              <a:t>erived</a:t>
            </a:r>
            <a:r>
              <a:rPr sz="1400" b="0" dirty="0">
                <a:solidFill>
                  <a:srgbClr val="F2F3F5"/>
                </a:solidFill>
                <a:latin typeface="Aptos"/>
              </a:rPr>
              <a:t> </a:t>
            </a:r>
            <a:r>
              <a:rPr lang="en-IN" sz="1400" dirty="0">
                <a:solidFill>
                  <a:srgbClr val="F2F3F5"/>
                </a:solidFill>
                <a:latin typeface="Aptos"/>
              </a:rPr>
              <a:t>M</a:t>
            </a:r>
            <a:r>
              <a:rPr sz="1400" b="0" dirty="0" err="1">
                <a:solidFill>
                  <a:srgbClr val="F2F3F5"/>
                </a:solidFill>
                <a:latin typeface="Aptos"/>
              </a:rPr>
              <a:t>easures</a:t>
            </a:r>
            <a:r>
              <a:rPr lang="en-IN" sz="1400" b="0" dirty="0">
                <a:solidFill>
                  <a:srgbClr val="F2F3F5"/>
                </a:solidFill>
                <a:latin typeface="Aptos"/>
              </a:rPr>
              <a:t> like Profit | Prepared Data for Analysis</a:t>
            </a:r>
            <a:endParaRPr sz="1400" b="0" dirty="0">
              <a:solidFill>
                <a:srgbClr val="F2F3F5"/>
              </a:solidFill>
              <a:latin typeface="Aptos"/>
            </a:endParaRPr>
          </a:p>
        </p:txBody>
      </p:sp>
      <p:sp>
        <p:nvSpPr>
          <p:cNvPr id="12" name="Rounded Rectangle 11"/>
          <p:cNvSpPr/>
          <p:nvPr/>
        </p:nvSpPr>
        <p:spPr>
          <a:xfrm>
            <a:off x="8061960" y="2860039"/>
            <a:ext cx="3931920" cy="1464191"/>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61960" y="2876296"/>
            <a:ext cx="3962400" cy="338554"/>
          </a:xfrm>
          <a:prstGeom prst="rect">
            <a:avLst/>
          </a:prstGeom>
          <a:noFill/>
        </p:spPr>
        <p:txBody>
          <a:bodyPr wrap="square">
            <a:spAutoFit/>
          </a:bodyPr>
          <a:lstStyle/>
          <a:p>
            <a:pPr algn="ctr"/>
            <a:r>
              <a:rPr sz="1600" b="1" dirty="0">
                <a:solidFill>
                  <a:srgbClr val="DDAD4C"/>
                </a:solidFill>
                <a:latin typeface="Aptos"/>
              </a:rPr>
              <a:t>OUTLIER / REVENUE ANALYSIS</a:t>
            </a:r>
          </a:p>
        </p:txBody>
      </p:sp>
      <p:sp>
        <p:nvSpPr>
          <p:cNvPr id="14" name="TextBox 13"/>
          <p:cNvSpPr txBox="1"/>
          <p:nvPr/>
        </p:nvSpPr>
        <p:spPr>
          <a:xfrm>
            <a:off x="8263128" y="3149599"/>
            <a:ext cx="3624072" cy="1169551"/>
          </a:xfrm>
          <a:prstGeom prst="rect">
            <a:avLst/>
          </a:prstGeom>
          <a:noFill/>
        </p:spPr>
        <p:txBody>
          <a:bodyPr wrap="square">
            <a:spAutoFit/>
          </a:bodyPr>
          <a:lstStyle/>
          <a:p>
            <a:r>
              <a:rPr lang="en-IN" sz="1400" dirty="0">
                <a:solidFill>
                  <a:schemeClr val="bg1"/>
                </a:solidFill>
              </a:rPr>
              <a:t>Revenue contained extreme values that could heavily influence comparisons. Therefore, revenue capping was applied for the actor/director analysis to reduce the impact of extreme observations.</a:t>
            </a:r>
          </a:p>
        </p:txBody>
      </p:sp>
      <p:sp>
        <p:nvSpPr>
          <p:cNvPr id="15" name="Rounded Rectangle 14"/>
          <p:cNvSpPr/>
          <p:nvPr/>
        </p:nvSpPr>
        <p:spPr>
          <a:xfrm>
            <a:off x="8061960" y="4516120"/>
            <a:ext cx="3931920" cy="1592072"/>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0408" y="4542536"/>
            <a:ext cx="3903472" cy="338554"/>
          </a:xfrm>
          <a:prstGeom prst="rect">
            <a:avLst/>
          </a:prstGeom>
          <a:noFill/>
        </p:spPr>
        <p:txBody>
          <a:bodyPr wrap="square">
            <a:spAutoFit/>
          </a:bodyPr>
          <a:lstStyle/>
          <a:p>
            <a:pPr algn="ctr"/>
            <a:r>
              <a:rPr sz="1600" b="1" dirty="0">
                <a:solidFill>
                  <a:srgbClr val="DDAD4C"/>
                </a:solidFill>
                <a:latin typeface="Aptos"/>
              </a:rPr>
              <a:t>PYTHON INSIGHTS</a:t>
            </a:r>
          </a:p>
        </p:txBody>
      </p:sp>
      <p:sp>
        <p:nvSpPr>
          <p:cNvPr id="17" name="TextBox 16"/>
          <p:cNvSpPr txBox="1"/>
          <p:nvPr/>
        </p:nvSpPr>
        <p:spPr>
          <a:xfrm>
            <a:off x="8263128" y="4886960"/>
            <a:ext cx="3529584" cy="1169551"/>
          </a:xfrm>
          <a:prstGeom prst="rect">
            <a:avLst/>
          </a:prstGeom>
          <a:noFill/>
        </p:spPr>
        <p:txBody>
          <a:bodyPr wrap="square">
            <a:spAutoFit/>
          </a:bodyPr>
          <a:lstStyle/>
          <a:p>
            <a:r>
              <a:rPr lang="en-IN" sz="1400" dirty="0">
                <a:solidFill>
                  <a:srgbClr val="F2F3F5"/>
                </a:solidFill>
                <a:latin typeface="Aptos"/>
              </a:rPr>
              <a:t>Python EDA was used to identify patterns in budget, revenue, genre, audience ratings and actor/director performance, which were then explored interactively in Power BI.</a:t>
            </a:r>
            <a:endParaRPr sz="1400" dirty="0">
              <a:solidFill>
                <a:srgbClr val="F2F3F5"/>
              </a:solidFill>
              <a:latin typeface="Aptos"/>
            </a:endParaRPr>
          </a:p>
        </p:txBody>
      </p:sp>
      <p:sp>
        <p:nvSpPr>
          <p:cNvPr id="21" name="TextBox 20">
            <a:extLst>
              <a:ext uri="{FF2B5EF4-FFF2-40B4-BE49-F238E27FC236}">
                <a16:creationId xmlns:a16="http://schemas.microsoft.com/office/drawing/2014/main" id="{5EB1D9AE-C33C-D303-2572-2F089453C334}"/>
              </a:ext>
            </a:extLst>
          </p:cNvPr>
          <p:cNvSpPr txBox="1"/>
          <p:nvPr/>
        </p:nvSpPr>
        <p:spPr>
          <a:xfrm>
            <a:off x="373888" y="17881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4</a:t>
            </a:r>
            <a:endParaRPr sz="3600" b="1" dirty="0">
              <a:solidFill>
                <a:srgbClr val="DDAD4C"/>
              </a:solidFill>
              <a:latin typeface="Aptos"/>
            </a:endParaRPr>
          </a:p>
        </p:txBody>
      </p:sp>
      <p:pic>
        <p:nvPicPr>
          <p:cNvPr id="25" name="Picture 24">
            <a:extLst>
              <a:ext uri="{FF2B5EF4-FFF2-40B4-BE49-F238E27FC236}">
                <a16:creationId xmlns:a16="http://schemas.microsoft.com/office/drawing/2014/main" id="{00552AE9-5B1B-BCC1-B44A-81D0C5255226}"/>
              </a:ext>
            </a:extLst>
          </p:cNvPr>
          <p:cNvPicPr>
            <a:picLocks noChangeAspect="1"/>
          </p:cNvPicPr>
          <p:nvPr/>
        </p:nvPicPr>
        <p:blipFill>
          <a:blip r:embed="rId2"/>
          <a:srcRect r="23998"/>
          <a:stretch>
            <a:fillRect/>
          </a:stretch>
        </p:blipFill>
        <p:spPr>
          <a:xfrm>
            <a:off x="150367" y="1120648"/>
            <a:ext cx="3335527" cy="2473411"/>
          </a:xfrm>
          <a:prstGeom prst="rect">
            <a:avLst/>
          </a:prstGeom>
        </p:spPr>
      </p:pic>
      <p:pic>
        <p:nvPicPr>
          <p:cNvPr id="27" name="Picture 26">
            <a:extLst>
              <a:ext uri="{FF2B5EF4-FFF2-40B4-BE49-F238E27FC236}">
                <a16:creationId xmlns:a16="http://schemas.microsoft.com/office/drawing/2014/main" id="{5651C5A9-BCFB-D26F-8D03-C84B680B835F}"/>
              </a:ext>
            </a:extLst>
          </p:cNvPr>
          <p:cNvPicPr>
            <a:picLocks noChangeAspect="1"/>
          </p:cNvPicPr>
          <p:nvPr/>
        </p:nvPicPr>
        <p:blipFill>
          <a:blip r:embed="rId3"/>
          <a:srcRect r="14391"/>
          <a:stretch>
            <a:fillRect/>
          </a:stretch>
        </p:blipFill>
        <p:spPr>
          <a:xfrm>
            <a:off x="150366" y="3763886"/>
            <a:ext cx="7073394" cy="2946215"/>
          </a:xfrm>
          <a:prstGeom prst="rect">
            <a:avLst/>
          </a:prstGeom>
        </p:spPr>
      </p:pic>
      <p:pic>
        <p:nvPicPr>
          <p:cNvPr id="29" name="Picture 28">
            <a:extLst>
              <a:ext uri="{FF2B5EF4-FFF2-40B4-BE49-F238E27FC236}">
                <a16:creationId xmlns:a16="http://schemas.microsoft.com/office/drawing/2014/main" id="{03D19098-5A88-1DA8-8B66-76C08FF13E7A}"/>
              </a:ext>
            </a:extLst>
          </p:cNvPr>
          <p:cNvPicPr>
            <a:picLocks noChangeAspect="1"/>
          </p:cNvPicPr>
          <p:nvPr/>
        </p:nvPicPr>
        <p:blipFill>
          <a:blip r:embed="rId4"/>
          <a:stretch>
            <a:fillRect/>
          </a:stretch>
        </p:blipFill>
        <p:spPr>
          <a:xfrm>
            <a:off x="3687062" y="1104188"/>
            <a:ext cx="4173730" cy="247341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264160"/>
            <a:ext cx="9875520" cy="502920"/>
          </a:xfrm>
          <a:prstGeom prst="rect">
            <a:avLst/>
          </a:prstGeom>
          <a:noFill/>
        </p:spPr>
        <p:txBody>
          <a:bodyPr wrap="square">
            <a:spAutoFit/>
          </a:bodyPr>
          <a:lstStyle/>
          <a:p>
            <a:pPr algn="l"/>
            <a:r>
              <a:rPr sz="2700" b="1" dirty="0">
                <a:solidFill>
                  <a:srgbClr val="DDAD4C"/>
                </a:solidFill>
                <a:latin typeface="Aptos Display"/>
              </a:rPr>
              <a:t>Q1 </a:t>
            </a:r>
            <a:r>
              <a:rPr lang="en-IN" sz="2700" b="1" dirty="0">
                <a:solidFill>
                  <a:srgbClr val="DDAD4C"/>
                </a:solidFill>
                <a:latin typeface="Aptos Display"/>
              </a:rPr>
              <a:t>-</a:t>
            </a:r>
            <a:r>
              <a:rPr sz="2700" b="1" dirty="0">
                <a:solidFill>
                  <a:srgbClr val="DDAD4C"/>
                </a:solidFill>
                <a:latin typeface="Aptos Display"/>
              </a:rPr>
              <a:t> Budget vs Revenue</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1" dirty="0">
                <a:solidFill>
                  <a:srgbClr val="A4A9B4"/>
                </a:solidFill>
                <a:latin typeface="Aptos"/>
              </a:rPr>
              <a:t>Does a higher budget lead to greater box office revenue?</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344407" y="1417320"/>
            <a:ext cx="3639311" cy="15087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44408" y="1433576"/>
            <a:ext cx="3639310" cy="338554"/>
          </a:xfrm>
          <a:prstGeom prst="rect">
            <a:avLst/>
          </a:prstGeom>
          <a:noFill/>
        </p:spPr>
        <p:txBody>
          <a:bodyPr wrap="square">
            <a:spAutoFit/>
          </a:bodyPr>
          <a:lstStyle/>
          <a:p>
            <a:pPr algn="ctr"/>
            <a:r>
              <a:rPr sz="1600" b="1">
                <a:solidFill>
                  <a:srgbClr val="DDAD4C"/>
                </a:solidFill>
                <a:latin typeface="Aptos"/>
              </a:rPr>
              <a:t>VISUAL LOGIC</a:t>
            </a:r>
          </a:p>
        </p:txBody>
      </p:sp>
      <p:sp>
        <p:nvSpPr>
          <p:cNvPr id="11" name="TextBox 10"/>
          <p:cNvSpPr txBox="1"/>
          <p:nvPr/>
        </p:nvSpPr>
        <p:spPr>
          <a:xfrm>
            <a:off x="8524502" y="1798320"/>
            <a:ext cx="3258050" cy="954107"/>
          </a:xfrm>
          <a:prstGeom prst="rect">
            <a:avLst/>
          </a:prstGeom>
          <a:noFill/>
        </p:spPr>
        <p:txBody>
          <a:bodyPr wrap="square">
            <a:spAutoFit/>
          </a:bodyPr>
          <a:lstStyle/>
          <a:p>
            <a:pPr algn="l"/>
            <a:r>
              <a:rPr sz="1400" b="0" dirty="0">
                <a:solidFill>
                  <a:srgbClr val="F2F3F5"/>
                </a:solidFill>
                <a:latin typeface="Aptos"/>
              </a:rPr>
              <a:t>Scatter plot
X = Budget
Y = Revenue
Each point = one movie</a:t>
            </a:r>
          </a:p>
        </p:txBody>
      </p:sp>
      <p:sp>
        <p:nvSpPr>
          <p:cNvPr id="12" name="Rounded Rectangle 11"/>
          <p:cNvSpPr/>
          <p:nvPr/>
        </p:nvSpPr>
        <p:spPr>
          <a:xfrm>
            <a:off x="8344407" y="3127248"/>
            <a:ext cx="3639311" cy="141732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44408" y="3143504"/>
            <a:ext cx="3639310" cy="338554"/>
          </a:xfrm>
          <a:prstGeom prst="rect">
            <a:avLst/>
          </a:prstGeom>
          <a:noFill/>
        </p:spPr>
        <p:txBody>
          <a:bodyPr wrap="square">
            <a:spAutoFit/>
          </a:bodyPr>
          <a:lstStyle/>
          <a:p>
            <a:pPr algn="ctr"/>
            <a:r>
              <a:rPr sz="1600" b="1">
                <a:solidFill>
                  <a:srgbClr val="DDAD4C"/>
                </a:solidFill>
                <a:latin typeface="Aptos"/>
              </a:rPr>
              <a:t>KEY INSIGHT</a:t>
            </a:r>
          </a:p>
        </p:txBody>
      </p:sp>
      <p:sp>
        <p:nvSpPr>
          <p:cNvPr id="14" name="TextBox 13"/>
          <p:cNvSpPr txBox="1"/>
          <p:nvPr/>
        </p:nvSpPr>
        <p:spPr>
          <a:xfrm>
            <a:off x="8524502" y="3482058"/>
            <a:ext cx="3258050" cy="954107"/>
          </a:xfrm>
          <a:prstGeom prst="rect">
            <a:avLst/>
          </a:prstGeom>
          <a:noFill/>
        </p:spPr>
        <p:txBody>
          <a:bodyPr wrap="square">
            <a:spAutoFit/>
          </a:bodyPr>
          <a:lstStyle/>
          <a:p>
            <a:pPr algn="l"/>
            <a:r>
              <a:rPr sz="1400" b="0" dirty="0">
                <a:solidFill>
                  <a:srgbClr val="F2F3F5"/>
                </a:solidFill>
                <a:latin typeface="Aptos"/>
              </a:rPr>
              <a:t>Higher-budget movies generally tend to generate higher revenue, but budget alone does not guarantee commercial success</a:t>
            </a:r>
            <a:r>
              <a:rPr lang="en-IN" sz="1400" b="0" dirty="0">
                <a:solidFill>
                  <a:srgbClr val="F2F3F5"/>
                </a:solidFill>
                <a:latin typeface="Aptos"/>
              </a:rPr>
              <a:t> as the dots are spread</a:t>
            </a:r>
            <a:r>
              <a:rPr sz="1400" b="0" dirty="0">
                <a:solidFill>
                  <a:srgbClr val="F2F3F5"/>
                </a:solidFill>
                <a:latin typeface="Aptos"/>
              </a:rPr>
              <a:t>.</a:t>
            </a:r>
          </a:p>
        </p:txBody>
      </p:sp>
      <p:sp>
        <p:nvSpPr>
          <p:cNvPr id="15" name="Rounded Rectangle 14"/>
          <p:cNvSpPr/>
          <p:nvPr/>
        </p:nvSpPr>
        <p:spPr>
          <a:xfrm>
            <a:off x="8344407" y="4736592"/>
            <a:ext cx="3639311" cy="141732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44408" y="4752847"/>
            <a:ext cx="3639310" cy="338554"/>
          </a:xfrm>
          <a:prstGeom prst="rect">
            <a:avLst/>
          </a:prstGeom>
          <a:noFill/>
        </p:spPr>
        <p:txBody>
          <a:bodyPr wrap="square">
            <a:spAutoFit/>
          </a:bodyPr>
          <a:lstStyle/>
          <a:p>
            <a:pPr algn="ctr"/>
            <a:r>
              <a:rPr sz="1600" b="1">
                <a:solidFill>
                  <a:srgbClr val="DDAD4C"/>
                </a:solidFill>
                <a:latin typeface="Aptos"/>
              </a:rPr>
              <a:t>BUSINESS TAKEAWAY</a:t>
            </a:r>
          </a:p>
        </p:txBody>
      </p:sp>
      <p:sp>
        <p:nvSpPr>
          <p:cNvPr id="17" name="TextBox 16"/>
          <p:cNvSpPr txBox="1"/>
          <p:nvPr/>
        </p:nvSpPr>
        <p:spPr>
          <a:xfrm>
            <a:off x="8524502" y="5087112"/>
            <a:ext cx="3258050" cy="954107"/>
          </a:xfrm>
          <a:prstGeom prst="rect">
            <a:avLst/>
          </a:prstGeom>
          <a:noFill/>
        </p:spPr>
        <p:txBody>
          <a:bodyPr wrap="square">
            <a:spAutoFit/>
          </a:bodyPr>
          <a:lstStyle/>
          <a:p>
            <a:pPr algn="l"/>
            <a:r>
              <a:rPr sz="1400" b="0" dirty="0">
                <a:solidFill>
                  <a:srgbClr val="F2F3F5"/>
                </a:solidFill>
                <a:latin typeface="Aptos"/>
              </a:rPr>
              <a:t>Budget is an important factor, but investment decisions should consider other success drivers</a:t>
            </a:r>
            <a:r>
              <a:rPr lang="en-IN" sz="1400" b="0" dirty="0">
                <a:solidFill>
                  <a:srgbClr val="F2F3F5"/>
                </a:solidFill>
                <a:latin typeface="Aptos"/>
              </a:rPr>
              <a:t> such as genre, audience reception, etc</a:t>
            </a:r>
            <a:r>
              <a:rPr sz="1400" b="0" dirty="0">
                <a:solidFill>
                  <a:srgbClr val="F2F3F5"/>
                </a:solidFill>
                <a:latin typeface="Aptos"/>
              </a:rPr>
              <a:t>.</a:t>
            </a:r>
          </a:p>
        </p:txBody>
      </p:sp>
      <p:sp>
        <p:nvSpPr>
          <p:cNvPr id="19" name="TextBox 18">
            <a:extLst>
              <a:ext uri="{FF2B5EF4-FFF2-40B4-BE49-F238E27FC236}">
                <a16:creationId xmlns:a16="http://schemas.microsoft.com/office/drawing/2014/main" id="{4C8F3BF2-6DE9-F24E-768F-B681EA7C7A6D}"/>
              </a:ext>
            </a:extLst>
          </p:cNvPr>
          <p:cNvSpPr txBox="1"/>
          <p:nvPr/>
        </p:nvSpPr>
        <p:spPr>
          <a:xfrm>
            <a:off x="373888" y="31089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5</a:t>
            </a:r>
            <a:endParaRPr sz="3600" b="1" dirty="0">
              <a:solidFill>
                <a:srgbClr val="DDAD4C"/>
              </a:solidFill>
              <a:latin typeface="Aptos"/>
            </a:endParaRPr>
          </a:p>
        </p:txBody>
      </p:sp>
      <p:pic>
        <p:nvPicPr>
          <p:cNvPr id="21" name="Picture 20">
            <a:extLst>
              <a:ext uri="{FF2B5EF4-FFF2-40B4-BE49-F238E27FC236}">
                <a16:creationId xmlns:a16="http://schemas.microsoft.com/office/drawing/2014/main" id="{EF6E890C-E032-859C-9769-74FB766E2344}"/>
              </a:ext>
            </a:extLst>
          </p:cNvPr>
          <p:cNvPicPr>
            <a:picLocks noChangeAspect="1"/>
          </p:cNvPicPr>
          <p:nvPr/>
        </p:nvPicPr>
        <p:blipFill>
          <a:blip r:embed="rId2"/>
          <a:stretch>
            <a:fillRect/>
          </a:stretch>
        </p:blipFill>
        <p:spPr>
          <a:xfrm>
            <a:off x="142239" y="1416352"/>
            <a:ext cx="8001001" cy="5130752"/>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264160"/>
            <a:ext cx="9875520" cy="502920"/>
          </a:xfrm>
          <a:prstGeom prst="rect">
            <a:avLst/>
          </a:prstGeom>
          <a:noFill/>
        </p:spPr>
        <p:txBody>
          <a:bodyPr wrap="square">
            <a:spAutoFit/>
          </a:bodyPr>
          <a:lstStyle/>
          <a:p>
            <a:pPr algn="l"/>
            <a:r>
              <a:rPr sz="2700" b="1" dirty="0">
                <a:solidFill>
                  <a:srgbClr val="DDAD4C"/>
                </a:solidFill>
                <a:latin typeface="Aptos Display"/>
              </a:rPr>
              <a:t>Q2 </a:t>
            </a:r>
            <a:r>
              <a:rPr lang="en-IN" sz="2700" b="1" dirty="0">
                <a:solidFill>
                  <a:srgbClr val="DDAD4C"/>
                </a:solidFill>
                <a:latin typeface="Aptos Display"/>
              </a:rPr>
              <a:t>-</a:t>
            </a:r>
            <a:r>
              <a:rPr sz="2700" b="1" dirty="0">
                <a:solidFill>
                  <a:srgbClr val="DDAD4C"/>
                </a:solidFill>
                <a:latin typeface="Aptos Display"/>
              </a:rPr>
              <a:t> Genre Performance</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1" dirty="0">
                <a:solidFill>
                  <a:srgbClr val="A4A9B4"/>
                </a:solidFill>
                <a:latin typeface="Aptos"/>
              </a:rPr>
              <a:t>Which movie genres generate the highest revenue?</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94360" y="5039360"/>
            <a:ext cx="5303520" cy="160528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5055616"/>
            <a:ext cx="5303520" cy="338554"/>
          </a:xfrm>
          <a:prstGeom prst="rect">
            <a:avLst/>
          </a:prstGeom>
          <a:noFill/>
        </p:spPr>
        <p:txBody>
          <a:bodyPr wrap="square">
            <a:spAutoFit/>
          </a:bodyPr>
          <a:lstStyle/>
          <a:p>
            <a:pPr algn="ctr"/>
            <a:r>
              <a:rPr lang="en-IN" sz="1600" b="1" dirty="0">
                <a:solidFill>
                  <a:srgbClr val="DDAD4C"/>
                </a:solidFill>
                <a:latin typeface="Aptos"/>
              </a:rPr>
              <a:t>Top 10 Genre by Revenue &amp; Profit</a:t>
            </a:r>
            <a:endParaRPr sz="1600" b="1" dirty="0">
              <a:solidFill>
                <a:srgbClr val="DDAD4C"/>
              </a:solidFill>
              <a:latin typeface="Aptos"/>
            </a:endParaRPr>
          </a:p>
        </p:txBody>
      </p:sp>
      <p:sp>
        <p:nvSpPr>
          <p:cNvPr id="14" name="TextBox 13"/>
          <p:cNvSpPr txBox="1"/>
          <p:nvPr/>
        </p:nvSpPr>
        <p:spPr>
          <a:xfrm>
            <a:off x="795528" y="5410200"/>
            <a:ext cx="4901183" cy="1077218"/>
          </a:xfrm>
          <a:prstGeom prst="rect">
            <a:avLst/>
          </a:prstGeom>
          <a:noFill/>
        </p:spPr>
        <p:txBody>
          <a:bodyPr wrap="square">
            <a:spAutoFit/>
          </a:bodyPr>
          <a:lstStyle/>
          <a:p>
            <a:r>
              <a:rPr lang="en-IN" sz="1600" dirty="0">
                <a:solidFill>
                  <a:srgbClr val="F2F3F5"/>
                </a:solidFill>
                <a:latin typeface="Aptos"/>
              </a:rPr>
              <a:t>The two charts compare the top 10 genres based on total revenue and total profit. This helps distinguish genres that generate high sales from genres that generate high profitability.</a:t>
            </a:r>
            <a:endParaRPr sz="1600" dirty="0">
              <a:solidFill>
                <a:srgbClr val="F2F3F5"/>
              </a:solidFill>
              <a:latin typeface="Aptos"/>
            </a:endParaRPr>
          </a:p>
        </p:txBody>
      </p:sp>
      <p:sp>
        <p:nvSpPr>
          <p:cNvPr id="15" name="Rounded Rectangle 14"/>
          <p:cNvSpPr/>
          <p:nvPr/>
        </p:nvSpPr>
        <p:spPr>
          <a:xfrm>
            <a:off x="6172200" y="5039360"/>
            <a:ext cx="5394960" cy="160528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6259" y="5055616"/>
            <a:ext cx="5390901" cy="338554"/>
          </a:xfrm>
          <a:prstGeom prst="rect">
            <a:avLst/>
          </a:prstGeom>
          <a:noFill/>
        </p:spPr>
        <p:txBody>
          <a:bodyPr wrap="square">
            <a:spAutoFit/>
          </a:bodyPr>
          <a:lstStyle/>
          <a:p>
            <a:pPr algn="ctr"/>
            <a:r>
              <a:rPr sz="1600" b="1" dirty="0">
                <a:solidFill>
                  <a:srgbClr val="DDAD4C"/>
                </a:solidFill>
                <a:latin typeface="Aptos"/>
              </a:rPr>
              <a:t>KEY FINDING</a:t>
            </a:r>
          </a:p>
        </p:txBody>
      </p:sp>
      <p:sp>
        <p:nvSpPr>
          <p:cNvPr id="17" name="TextBox 16"/>
          <p:cNvSpPr txBox="1"/>
          <p:nvPr/>
        </p:nvSpPr>
        <p:spPr>
          <a:xfrm>
            <a:off x="6403848" y="5391390"/>
            <a:ext cx="4992624" cy="1138773"/>
          </a:xfrm>
          <a:prstGeom prst="rect">
            <a:avLst/>
          </a:prstGeom>
          <a:noFill/>
        </p:spPr>
        <p:txBody>
          <a:bodyPr wrap="square">
            <a:spAutoFit/>
          </a:bodyPr>
          <a:lstStyle/>
          <a:p>
            <a:r>
              <a:rPr sz="1600" b="0" dirty="0">
                <a:solidFill>
                  <a:schemeClr val="bg1"/>
                </a:solidFill>
                <a:latin typeface="Aptos"/>
              </a:rPr>
              <a:t>Revenue leader: </a:t>
            </a:r>
            <a:r>
              <a:rPr lang="en-IN" sz="1600" dirty="0">
                <a:solidFill>
                  <a:schemeClr val="bg1"/>
                </a:solidFill>
                <a:latin typeface="Aptos"/>
              </a:rPr>
              <a:t>Sci-Fi , Fantasy , Adventure</a:t>
            </a:r>
            <a:r>
              <a:rPr sz="1600" b="0" dirty="0">
                <a:solidFill>
                  <a:schemeClr val="bg1"/>
                </a:solidFill>
                <a:latin typeface="Aptos"/>
              </a:rPr>
              <a:t>
Profit leader: </a:t>
            </a:r>
            <a:r>
              <a:rPr lang="en-IN" sz="1600" dirty="0">
                <a:solidFill>
                  <a:schemeClr val="bg1"/>
                </a:solidFill>
                <a:latin typeface="Aptos"/>
              </a:rPr>
              <a:t>Sci-Fi , Fantasy , Adventure</a:t>
            </a:r>
            <a:br>
              <a:rPr lang="en-IN" sz="1600" dirty="0">
                <a:solidFill>
                  <a:schemeClr val="bg1"/>
                </a:solidFill>
                <a:latin typeface="Aptos"/>
              </a:rPr>
            </a:br>
            <a:r>
              <a:rPr lang="en-IN" sz="400" dirty="0">
                <a:solidFill>
                  <a:schemeClr val="bg1"/>
                </a:solidFill>
                <a:latin typeface="Aptos"/>
              </a:rPr>
              <a:t>.</a:t>
            </a:r>
            <a:br>
              <a:rPr lang="en-IN" sz="2000" dirty="0">
                <a:solidFill>
                  <a:schemeClr val="bg1"/>
                </a:solidFill>
              </a:rPr>
            </a:br>
            <a:r>
              <a:rPr lang="en-IN" sz="1600" dirty="0">
                <a:solidFill>
                  <a:schemeClr val="bg1"/>
                </a:solidFill>
              </a:rPr>
              <a:t>Revenue and profit rankings show a very similar pattern, with only the lower-ranked genres changing positions.</a:t>
            </a:r>
            <a:endParaRPr sz="1600" b="0" dirty="0">
              <a:solidFill>
                <a:schemeClr val="bg1"/>
              </a:solidFill>
              <a:latin typeface="Aptos"/>
            </a:endParaRPr>
          </a:p>
        </p:txBody>
      </p:sp>
      <p:sp>
        <p:nvSpPr>
          <p:cNvPr id="19" name="TextBox 18">
            <a:extLst>
              <a:ext uri="{FF2B5EF4-FFF2-40B4-BE49-F238E27FC236}">
                <a16:creationId xmlns:a16="http://schemas.microsoft.com/office/drawing/2014/main" id="{416079A8-37AE-BFFF-98B9-91C3ACD0CBAE}"/>
              </a:ext>
            </a:extLst>
          </p:cNvPr>
          <p:cNvSpPr txBox="1"/>
          <p:nvPr/>
        </p:nvSpPr>
        <p:spPr>
          <a:xfrm>
            <a:off x="373888" y="31089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6</a:t>
            </a:r>
            <a:endParaRPr sz="3600" b="1" dirty="0">
              <a:solidFill>
                <a:srgbClr val="DDAD4C"/>
              </a:solidFill>
              <a:latin typeface="Aptos"/>
            </a:endParaRPr>
          </a:p>
        </p:txBody>
      </p:sp>
      <p:grpSp>
        <p:nvGrpSpPr>
          <p:cNvPr id="24" name="Group 23">
            <a:extLst>
              <a:ext uri="{FF2B5EF4-FFF2-40B4-BE49-F238E27FC236}">
                <a16:creationId xmlns:a16="http://schemas.microsoft.com/office/drawing/2014/main" id="{B65C5244-774E-D59B-0AC4-74CB9E2612DC}"/>
              </a:ext>
            </a:extLst>
          </p:cNvPr>
          <p:cNvGrpSpPr/>
          <p:nvPr/>
        </p:nvGrpSpPr>
        <p:grpSpPr>
          <a:xfrm>
            <a:off x="188522" y="1314859"/>
            <a:ext cx="11814955" cy="3499511"/>
            <a:chOff x="197662" y="1396139"/>
            <a:chExt cx="11814955" cy="2823569"/>
          </a:xfrm>
        </p:grpSpPr>
        <p:pic>
          <p:nvPicPr>
            <p:cNvPr id="21" name="Picture 20">
              <a:extLst>
                <a:ext uri="{FF2B5EF4-FFF2-40B4-BE49-F238E27FC236}">
                  <a16:creationId xmlns:a16="http://schemas.microsoft.com/office/drawing/2014/main" id="{F6F078FD-AD3D-853D-746B-CA8E56DE5458}"/>
                </a:ext>
              </a:extLst>
            </p:cNvPr>
            <p:cNvPicPr>
              <a:picLocks noChangeAspect="1"/>
            </p:cNvPicPr>
            <p:nvPr/>
          </p:nvPicPr>
          <p:blipFill>
            <a:blip r:embed="rId2"/>
            <a:stretch>
              <a:fillRect/>
            </a:stretch>
          </p:blipFill>
          <p:spPr>
            <a:xfrm>
              <a:off x="197662" y="1396139"/>
              <a:ext cx="5827218" cy="2823568"/>
            </a:xfrm>
            <a:prstGeom prst="rect">
              <a:avLst/>
            </a:prstGeom>
          </p:spPr>
        </p:pic>
        <p:pic>
          <p:nvPicPr>
            <p:cNvPr id="23" name="Picture 22">
              <a:extLst>
                <a:ext uri="{FF2B5EF4-FFF2-40B4-BE49-F238E27FC236}">
                  <a16:creationId xmlns:a16="http://schemas.microsoft.com/office/drawing/2014/main" id="{3EC25866-9613-142C-432A-D01C037B5D58}"/>
                </a:ext>
              </a:extLst>
            </p:cNvPr>
            <p:cNvPicPr>
              <a:picLocks noChangeAspect="1"/>
            </p:cNvPicPr>
            <p:nvPr/>
          </p:nvPicPr>
          <p:blipFill>
            <a:blip r:embed="rId3"/>
            <a:stretch>
              <a:fillRect/>
            </a:stretch>
          </p:blipFill>
          <p:spPr>
            <a:xfrm>
              <a:off x="6185399" y="1396140"/>
              <a:ext cx="5827218" cy="2823568"/>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121920"/>
            <a:ext cx="9875520" cy="502920"/>
          </a:xfrm>
          <a:prstGeom prst="rect">
            <a:avLst/>
          </a:prstGeom>
          <a:noFill/>
        </p:spPr>
        <p:txBody>
          <a:bodyPr wrap="square">
            <a:spAutoFit/>
          </a:bodyPr>
          <a:lstStyle/>
          <a:p>
            <a:pPr algn="l"/>
            <a:r>
              <a:rPr sz="2700" b="1" dirty="0">
                <a:solidFill>
                  <a:srgbClr val="DDAD4C"/>
                </a:solidFill>
                <a:latin typeface="Aptos Display"/>
              </a:rPr>
              <a:t>Q3 </a:t>
            </a:r>
            <a:r>
              <a:rPr lang="en-IN" sz="2700" b="1" dirty="0">
                <a:solidFill>
                  <a:srgbClr val="DDAD4C"/>
                </a:solidFill>
                <a:latin typeface="Aptos Display"/>
              </a:rPr>
              <a:t>-</a:t>
            </a:r>
            <a:r>
              <a:rPr sz="2700" b="1" dirty="0">
                <a:solidFill>
                  <a:srgbClr val="DDAD4C"/>
                </a:solidFill>
                <a:latin typeface="Aptos Display"/>
              </a:rPr>
              <a:t> Audience Ratings &amp; Commercial Success</a:t>
            </a:r>
          </a:p>
        </p:txBody>
      </p:sp>
      <p:sp>
        <p:nvSpPr>
          <p:cNvPr id="4" name="TextBox 3"/>
          <p:cNvSpPr txBox="1"/>
          <p:nvPr/>
        </p:nvSpPr>
        <p:spPr>
          <a:xfrm>
            <a:off x="1033271" y="617728"/>
            <a:ext cx="10332720" cy="307777"/>
          </a:xfrm>
          <a:prstGeom prst="rect">
            <a:avLst/>
          </a:prstGeom>
          <a:noFill/>
        </p:spPr>
        <p:txBody>
          <a:bodyPr wrap="square">
            <a:spAutoFit/>
          </a:bodyPr>
          <a:lstStyle/>
          <a:p>
            <a:pPr algn="l"/>
            <a:r>
              <a:rPr sz="1400" b="1" dirty="0">
                <a:solidFill>
                  <a:srgbClr val="A4A9B4"/>
                </a:solidFill>
                <a:latin typeface="Aptos"/>
              </a:rPr>
              <a:t>Is there a relationship between audience ratings and commercial success?</a:t>
            </a:r>
          </a:p>
        </p:txBody>
      </p:sp>
      <p:sp>
        <p:nvSpPr>
          <p:cNvPr id="5" name="Rectangle 4"/>
          <p:cNvSpPr/>
          <p:nvPr/>
        </p:nvSpPr>
        <p:spPr>
          <a:xfrm>
            <a:off x="502920" y="9906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459480"/>
            <a:ext cx="3246120" cy="320040"/>
          </a:xfrm>
          <a:prstGeom prst="rect">
            <a:avLst/>
          </a:prstGeom>
          <a:noFill/>
        </p:spPr>
        <p:txBody>
          <a:bodyPr wrap="square">
            <a:spAutoFit/>
          </a:bodyPr>
          <a:lstStyle/>
          <a:p>
            <a:pPr algn="ctr"/>
            <a:r>
              <a:rPr sz="1550" b="1">
                <a:solidFill>
                  <a:srgbClr val="A4A9B4"/>
                </a:solidFill>
                <a:latin typeface="Aptos"/>
              </a:rPr>
              <a:t>AUDIENCE SCORE VS REVENUE</a:t>
            </a:r>
          </a:p>
        </p:txBody>
      </p:sp>
      <p:sp>
        <p:nvSpPr>
          <p:cNvPr id="8" name="TextBox 7"/>
          <p:cNvSpPr txBox="1"/>
          <p:nvPr/>
        </p:nvSpPr>
        <p:spPr>
          <a:xfrm>
            <a:off x="731520" y="3825240"/>
            <a:ext cx="3246120" cy="274320"/>
          </a:xfrm>
          <a:prstGeom prst="rect">
            <a:avLst/>
          </a:prstGeom>
          <a:noFill/>
        </p:spPr>
        <p:txBody>
          <a:bodyPr wrap="square">
            <a:spAutoFit/>
          </a:bodyPr>
          <a:lstStyle/>
          <a:p>
            <a:pPr algn="ctr"/>
            <a:r>
              <a:rPr sz="1050" b="0">
                <a:solidFill>
                  <a:srgbClr val="787D88"/>
                </a:solidFill>
                <a:latin typeface="Aptos"/>
              </a:rPr>
              <a:t>Paste Page 3 chart</a:t>
            </a:r>
          </a:p>
        </p:txBody>
      </p:sp>
      <p:sp>
        <p:nvSpPr>
          <p:cNvPr id="15" name="TextBox 14"/>
          <p:cNvSpPr txBox="1"/>
          <p:nvPr/>
        </p:nvSpPr>
        <p:spPr>
          <a:xfrm>
            <a:off x="104648" y="5998804"/>
            <a:ext cx="1536422" cy="338554"/>
          </a:xfrm>
          <a:prstGeom prst="rect">
            <a:avLst/>
          </a:prstGeom>
          <a:noFill/>
        </p:spPr>
        <p:txBody>
          <a:bodyPr wrap="square">
            <a:spAutoFit/>
          </a:bodyPr>
          <a:lstStyle/>
          <a:p>
            <a:pPr algn="l"/>
            <a:r>
              <a:rPr sz="1600" b="1" dirty="0">
                <a:solidFill>
                  <a:srgbClr val="DDAD4C"/>
                </a:solidFill>
                <a:latin typeface="Aptos"/>
              </a:rPr>
              <a:t>CONCLUSION</a:t>
            </a:r>
          </a:p>
        </p:txBody>
      </p:sp>
      <p:sp>
        <p:nvSpPr>
          <p:cNvPr id="16" name="TextBox 15"/>
          <p:cNvSpPr txBox="1"/>
          <p:nvPr/>
        </p:nvSpPr>
        <p:spPr>
          <a:xfrm>
            <a:off x="1579880" y="5845861"/>
            <a:ext cx="8844279" cy="738664"/>
          </a:xfrm>
          <a:prstGeom prst="rect">
            <a:avLst/>
          </a:prstGeom>
          <a:noFill/>
        </p:spPr>
        <p:txBody>
          <a:bodyPr wrap="square">
            <a:spAutoFit/>
          </a:bodyPr>
          <a:lstStyle/>
          <a:p>
            <a:r>
              <a:rPr lang="en-IN" sz="1400" b="1" dirty="0">
                <a:solidFill>
                  <a:srgbClr val="A4A9B4"/>
                </a:solidFill>
                <a:latin typeface="Aptos"/>
              </a:rPr>
              <a:t>The visuals suggest that better audience reception is generally associated with stronger commercial performance, while IMDb ratings also show a relationship with ROI. However, the relationship is not absolute, indicating that ratings alone cannot determine a movie's commercial success.</a:t>
            </a:r>
            <a:endParaRPr sz="1400" b="1" dirty="0">
              <a:solidFill>
                <a:srgbClr val="A4A9B4"/>
              </a:solidFill>
              <a:latin typeface="Aptos"/>
            </a:endParaRPr>
          </a:p>
        </p:txBody>
      </p:sp>
      <p:sp>
        <p:nvSpPr>
          <p:cNvPr id="18" name="TextBox 17">
            <a:extLst>
              <a:ext uri="{FF2B5EF4-FFF2-40B4-BE49-F238E27FC236}">
                <a16:creationId xmlns:a16="http://schemas.microsoft.com/office/drawing/2014/main" id="{9B5358A5-CA0B-5EA7-582D-999EAD689894}"/>
              </a:ext>
            </a:extLst>
          </p:cNvPr>
          <p:cNvSpPr txBox="1"/>
          <p:nvPr/>
        </p:nvSpPr>
        <p:spPr>
          <a:xfrm>
            <a:off x="373888" y="17881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7</a:t>
            </a:r>
            <a:endParaRPr sz="3600" b="1" dirty="0">
              <a:solidFill>
                <a:srgbClr val="DDAD4C"/>
              </a:solidFill>
              <a:latin typeface="Aptos"/>
            </a:endParaRPr>
          </a:p>
        </p:txBody>
      </p:sp>
      <p:pic>
        <p:nvPicPr>
          <p:cNvPr id="20" name="Picture 19">
            <a:extLst>
              <a:ext uri="{FF2B5EF4-FFF2-40B4-BE49-F238E27FC236}">
                <a16:creationId xmlns:a16="http://schemas.microsoft.com/office/drawing/2014/main" id="{1C056A22-BE7C-C0FD-F01D-A7FB38D0676A}"/>
              </a:ext>
            </a:extLst>
          </p:cNvPr>
          <p:cNvPicPr>
            <a:picLocks noChangeAspect="1"/>
          </p:cNvPicPr>
          <p:nvPr/>
        </p:nvPicPr>
        <p:blipFill>
          <a:blip r:embed="rId2"/>
          <a:srcRect l="1549" t="661" r="1275"/>
          <a:stretch>
            <a:fillRect/>
          </a:stretch>
        </p:blipFill>
        <p:spPr>
          <a:xfrm>
            <a:off x="111761" y="1167587"/>
            <a:ext cx="5984240" cy="3929277"/>
          </a:xfrm>
          <a:prstGeom prst="rect">
            <a:avLst/>
          </a:prstGeom>
        </p:spPr>
      </p:pic>
      <p:pic>
        <p:nvPicPr>
          <p:cNvPr id="22" name="Picture 21">
            <a:extLst>
              <a:ext uri="{FF2B5EF4-FFF2-40B4-BE49-F238E27FC236}">
                <a16:creationId xmlns:a16="http://schemas.microsoft.com/office/drawing/2014/main" id="{D9298300-0092-B185-58A2-528A661025D5}"/>
              </a:ext>
            </a:extLst>
          </p:cNvPr>
          <p:cNvPicPr>
            <a:picLocks noChangeAspect="1"/>
          </p:cNvPicPr>
          <p:nvPr/>
        </p:nvPicPr>
        <p:blipFill>
          <a:blip r:embed="rId3"/>
          <a:srcRect l="1408" t="1402"/>
          <a:stretch>
            <a:fillRect/>
          </a:stretch>
        </p:blipFill>
        <p:spPr>
          <a:xfrm>
            <a:off x="6199631" y="1167587"/>
            <a:ext cx="5847078" cy="3929277"/>
          </a:xfrm>
          <a:prstGeom prst="rect">
            <a:avLst/>
          </a:prstGeom>
        </p:spPr>
      </p:pic>
      <p:sp>
        <p:nvSpPr>
          <p:cNvPr id="26" name="TextBox 25">
            <a:extLst>
              <a:ext uri="{FF2B5EF4-FFF2-40B4-BE49-F238E27FC236}">
                <a16:creationId xmlns:a16="http://schemas.microsoft.com/office/drawing/2014/main" id="{80A346F7-2F04-4D39-93AA-0A065B3E14BB}"/>
              </a:ext>
            </a:extLst>
          </p:cNvPr>
          <p:cNvSpPr txBox="1"/>
          <p:nvPr/>
        </p:nvSpPr>
        <p:spPr>
          <a:xfrm>
            <a:off x="111760" y="5187491"/>
            <a:ext cx="5984240" cy="307777"/>
          </a:xfrm>
          <a:prstGeom prst="rect">
            <a:avLst/>
          </a:prstGeom>
          <a:noFill/>
        </p:spPr>
        <p:txBody>
          <a:bodyPr wrap="square">
            <a:spAutoFit/>
          </a:bodyPr>
          <a:lstStyle/>
          <a:p>
            <a:pPr algn="ctr"/>
            <a:r>
              <a:rPr lang="en-IN" sz="1400" b="1" dirty="0">
                <a:solidFill>
                  <a:srgbClr val="A4A9B4"/>
                </a:solidFill>
                <a:latin typeface="Aptos"/>
              </a:rPr>
              <a:t>IMDB Rating vs ROI</a:t>
            </a:r>
            <a:endParaRPr sz="1400" b="1" dirty="0">
              <a:solidFill>
                <a:srgbClr val="A4A9B4"/>
              </a:solidFill>
              <a:latin typeface="Aptos"/>
            </a:endParaRPr>
          </a:p>
        </p:txBody>
      </p:sp>
      <p:sp>
        <p:nvSpPr>
          <p:cNvPr id="28" name="TextBox 27">
            <a:extLst>
              <a:ext uri="{FF2B5EF4-FFF2-40B4-BE49-F238E27FC236}">
                <a16:creationId xmlns:a16="http://schemas.microsoft.com/office/drawing/2014/main" id="{8EE402AE-A3F2-C9EB-ACB6-7341408FAFE5}"/>
              </a:ext>
            </a:extLst>
          </p:cNvPr>
          <p:cNvSpPr txBox="1"/>
          <p:nvPr/>
        </p:nvSpPr>
        <p:spPr>
          <a:xfrm>
            <a:off x="6199631" y="5187491"/>
            <a:ext cx="5847078" cy="307777"/>
          </a:xfrm>
          <a:prstGeom prst="rect">
            <a:avLst/>
          </a:prstGeom>
          <a:noFill/>
        </p:spPr>
        <p:txBody>
          <a:bodyPr wrap="square">
            <a:spAutoFit/>
          </a:bodyPr>
          <a:lstStyle/>
          <a:p>
            <a:pPr algn="ctr"/>
            <a:r>
              <a:rPr lang="en-IN" sz="1400" b="1" dirty="0">
                <a:solidFill>
                  <a:srgbClr val="A4A9B4"/>
                </a:solidFill>
                <a:latin typeface="Aptos"/>
              </a:rPr>
              <a:t>Audience Score vs Revenue</a:t>
            </a:r>
            <a:endParaRPr sz="1400" b="1" dirty="0">
              <a:solidFill>
                <a:srgbClr val="A4A9B4"/>
              </a:solidFill>
              <a:latin typeface="Apto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101600"/>
            <a:ext cx="9875520" cy="502920"/>
          </a:xfrm>
          <a:prstGeom prst="rect">
            <a:avLst/>
          </a:prstGeom>
          <a:noFill/>
        </p:spPr>
        <p:txBody>
          <a:bodyPr wrap="square">
            <a:spAutoFit/>
          </a:bodyPr>
          <a:lstStyle/>
          <a:p>
            <a:pPr algn="l"/>
            <a:r>
              <a:rPr sz="2700" b="1" dirty="0">
                <a:solidFill>
                  <a:srgbClr val="DDAD4C"/>
                </a:solidFill>
                <a:latin typeface="Aptos Display"/>
              </a:rPr>
              <a:t>Q4 </a:t>
            </a:r>
            <a:r>
              <a:rPr lang="en-IN" sz="2700" b="1" dirty="0">
                <a:solidFill>
                  <a:srgbClr val="DDAD4C"/>
                </a:solidFill>
                <a:latin typeface="Aptos Display"/>
              </a:rPr>
              <a:t>-</a:t>
            </a:r>
            <a:r>
              <a:rPr sz="2700" b="1" dirty="0">
                <a:solidFill>
                  <a:srgbClr val="DDAD4C"/>
                </a:solidFill>
                <a:latin typeface="Aptos Display"/>
              </a:rPr>
              <a:t> Crew Success</a:t>
            </a:r>
          </a:p>
        </p:txBody>
      </p:sp>
      <p:sp>
        <p:nvSpPr>
          <p:cNvPr id="4" name="TextBox 3"/>
          <p:cNvSpPr txBox="1"/>
          <p:nvPr/>
        </p:nvSpPr>
        <p:spPr>
          <a:xfrm>
            <a:off x="1033271" y="597408"/>
            <a:ext cx="10332720" cy="307777"/>
          </a:xfrm>
          <a:prstGeom prst="rect">
            <a:avLst/>
          </a:prstGeom>
          <a:noFill/>
        </p:spPr>
        <p:txBody>
          <a:bodyPr wrap="square">
            <a:spAutoFit/>
          </a:bodyPr>
          <a:lstStyle/>
          <a:p>
            <a:pPr algn="l"/>
            <a:r>
              <a:rPr sz="1400" b="1" dirty="0">
                <a:solidFill>
                  <a:srgbClr val="A4A9B4"/>
                </a:solidFill>
                <a:latin typeface="Aptos"/>
              </a:rPr>
              <a:t>Which directors consistently deliver successful movies?</a:t>
            </a:r>
          </a:p>
        </p:txBody>
      </p:sp>
      <p:sp>
        <p:nvSpPr>
          <p:cNvPr id="5" name="Rectangle 4"/>
          <p:cNvSpPr/>
          <p:nvPr/>
        </p:nvSpPr>
        <p:spPr>
          <a:xfrm>
            <a:off x="502920" y="94996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280" y="5773681"/>
            <a:ext cx="1483358" cy="369332"/>
          </a:xfrm>
          <a:prstGeom prst="rect">
            <a:avLst/>
          </a:prstGeom>
          <a:noFill/>
        </p:spPr>
        <p:txBody>
          <a:bodyPr wrap="square">
            <a:spAutoFit/>
          </a:bodyPr>
          <a:lstStyle/>
          <a:p>
            <a:pPr algn="ctr"/>
            <a:r>
              <a:rPr lang="en-IN" b="1" dirty="0">
                <a:solidFill>
                  <a:srgbClr val="DDAD4C"/>
                </a:solidFill>
                <a:latin typeface="Aptos"/>
              </a:rPr>
              <a:t>Conclusion</a:t>
            </a:r>
            <a:endParaRPr b="1" dirty="0">
              <a:solidFill>
                <a:srgbClr val="DDAD4C"/>
              </a:solidFill>
              <a:latin typeface="Aptos"/>
            </a:endParaRPr>
          </a:p>
        </p:txBody>
      </p:sp>
      <p:sp>
        <p:nvSpPr>
          <p:cNvPr id="15" name="TextBox 14">
            <a:extLst>
              <a:ext uri="{FF2B5EF4-FFF2-40B4-BE49-F238E27FC236}">
                <a16:creationId xmlns:a16="http://schemas.microsoft.com/office/drawing/2014/main" id="{B29CCD5F-AE23-16E0-157F-6A2A90498D38}"/>
              </a:ext>
            </a:extLst>
          </p:cNvPr>
          <p:cNvSpPr txBox="1"/>
          <p:nvPr/>
        </p:nvSpPr>
        <p:spPr>
          <a:xfrm>
            <a:off x="373888" y="15849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8</a:t>
            </a:r>
            <a:endParaRPr sz="3600" b="1" dirty="0">
              <a:solidFill>
                <a:srgbClr val="DDAD4C"/>
              </a:solidFill>
              <a:latin typeface="Aptos"/>
            </a:endParaRPr>
          </a:p>
        </p:txBody>
      </p:sp>
      <p:sp>
        <p:nvSpPr>
          <p:cNvPr id="25" name="TextBox 24">
            <a:extLst>
              <a:ext uri="{FF2B5EF4-FFF2-40B4-BE49-F238E27FC236}">
                <a16:creationId xmlns:a16="http://schemas.microsoft.com/office/drawing/2014/main" id="{4D38761E-0091-EA01-AA0E-217D05CA8A62}"/>
              </a:ext>
            </a:extLst>
          </p:cNvPr>
          <p:cNvSpPr txBox="1"/>
          <p:nvPr/>
        </p:nvSpPr>
        <p:spPr>
          <a:xfrm>
            <a:off x="1564639" y="5686054"/>
            <a:ext cx="10302241" cy="1077218"/>
          </a:xfrm>
          <a:prstGeom prst="rect">
            <a:avLst/>
          </a:prstGeom>
          <a:noFill/>
        </p:spPr>
        <p:txBody>
          <a:bodyPr wrap="square">
            <a:spAutoFit/>
          </a:bodyPr>
          <a:lstStyle/>
          <a:p>
            <a:r>
              <a:rPr lang="en-IN" sz="1600" dirty="0">
                <a:solidFill>
                  <a:schemeClr val="bg1"/>
                </a:solidFill>
              </a:rPr>
              <a:t>The analysis shows that Patty Jenkins has the highest average capped revenue, indicating strong commercial performance. However, her higher revenue variation suggests that this success is not always consistent. Sofia Coppola shows comparatively lower but more stable performance. Overall, average revenue alone is not enough to measure consistency. A success-rate analysis based on a defined revenue threshold would provide a stronger business insight.</a:t>
            </a:r>
            <a:endParaRPr sz="900" b="1" dirty="0">
              <a:solidFill>
                <a:schemeClr val="bg1"/>
              </a:solidFill>
              <a:latin typeface="Aptos"/>
            </a:endParaRPr>
          </a:p>
        </p:txBody>
      </p:sp>
      <p:pic>
        <p:nvPicPr>
          <p:cNvPr id="31" name="Picture 30">
            <a:extLst>
              <a:ext uri="{FF2B5EF4-FFF2-40B4-BE49-F238E27FC236}">
                <a16:creationId xmlns:a16="http://schemas.microsoft.com/office/drawing/2014/main" id="{5C91F73C-0CDE-738B-122F-9F9232D0B145}"/>
              </a:ext>
            </a:extLst>
          </p:cNvPr>
          <p:cNvPicPr>
            <a:picLocks noChangeAspect="1"/>
          </p:cNvPicPr>
          <p:nvPr/>
        </p:nvPicPr>
        <p:blipFill>
          <a:blip r:embed="rId3"/>
          <a:srcRect l="1364" r="2432"/>
          <a:stretch>
            <a:fillRect/>
          </a:stretch>
        </p:blipFill>
        <p:spPr>
          <a:xfrm>
            <a:off x="373888" y="1049525"/>
            <a:ext cx="11284712" cy="4495997"/>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a:extLst>
            <a:ext uri="{FF2B5EF4-FFF2-40B4-BE49-F238E27FC236}">
              <a16:creationId xmlns:a16="http://schemas.microsoft.com/office/drawing/2014/main" id="{A248E29E-852E-2BBA-3B1D-E52CBE6D69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8786F65-1EB0-75AB-BE0B-4DDA3A9C9CCE}"/>
              </a:ext>
            </a:extLst>
          </p:cNvPr>
          <p:cNvSpPr txBox="1"/>
          <p:nvPr/>
        </p:nvSpPr>
        <p:spPr>
          <a:xfrm>
            <a:off x="1024128" y="101600"/>
            <a:ext cx="9875520" cy="502920"/>
          </a:xfrm>
          <a:prstGeom prst="rect">
            <a:avLst/>
          </a:prstGeom>
          <a:noFill/>
        </p:spPr>
        <p:txBody>
          <a:bodyPr wrap="square">
            <a:spAutoFit/>
          </a:bodyPr>
          <a:lstStyle/>
          <a:p>
            <a:pPr algn="l"/>
            <a:r>
              <a:rPr sz="2700" b="1" dirty="0">
                <a:solidFill>
                  <a:srgbClr val="DDAD4C"/>
                </a:solidFill>
                <a:latin typeface="Aptos Display"/>
              </a:rPr>
              <a:t>Q4 </a:t>
            </a:r>
            <a:r>
              <a:rPr lang="en-IN" sz="2700" b="1" dirty="0">
                <a:solidFill>
                  <a:srgbClr val="DDAD4C"/>
                </a:solidFill>
                <a:latin typeface="Aptos Display"/>
              </a:rPr>
              <a:t>-</a:t>
            </a:r>
            <a:r>
              <a:rPr sz="2700" b="1" dirty="0">
                <a:solidFill>
                  <a:srgbClr val="DDAD4C"/>
                </a:solidFill>
                <a:latin typeface="Aptos Display"/>
              </a:rPr>
              <a:t> Crew Success</a:t>
            </a:r>
          </a:p>
        </p:txBody>
      </p:sp>
      <p:sp>
        <p:nvSpPr>
          <p:cNvPr id="4" name="TextBox 3">
            <a:extLst>
              <a:ext uri="{FF2B5EF4-FFF2-40B4-BE49-F238E27FC236}">
                <a16:creationId xmlns:a16="http://schemas.microsoft.com/office/drawing/2014/main" id="{AC13216D-2FB1-195B-5187-85E621828068}"/>
              </a:ext>
            </a:extLst>
          </p:cNvPr>
          <p:cNvSpPr txBox="1"/>
          <p:nvPr/>
        </p:nvSpPr>
        <p:spPr>
          <a:xfrm>
            <a:off x="1033271" y="597408"/>
            <a:ext cx="10332720" cy="307777"/>
          </a:xfrm>
          <a:prstGeom prst="rect">
            <a:avLst/>
          </a:prstGeom>
          <a:noFill/>
        </p:spPr>
        <p:txBody>
          <a:bodyPr wrap="square">
            <a:spAutoFit/>
          </a:bodyPr>
          <a:lstStyle/>
          <a:p>
            <a:pPr algn="l"/>
            <a:r>
              <a:rPr sz="1400" b="1" dirty="0">
                <a:solidFill>
                  <a:srgbClr val="A4A9B4"/>
                </a:solidFill>
                <a:latin typeface="Aptos"/>
              </a:rPr>
              <a:t>Which </a:t>
            </a:r>
            <a:r>
              <a:rPr lang="en-IN" sz="1400" b="1" dirty="0">
                <a:solidFill>
                  <a:srgbClr val="A4A9B4"/>
                </a:solidFill>
                <a:latin typeface="Aptos"/>
              </a:rPr>
              <a:t>actors</a:t>
            </a:r>
            <a:r>
              <a:rPr sz="1400" b="1" dirty="0">
                <a:solidFill>
                  <a:srgbClr val="A4A9B4"/>
                </a:solidFill>
                <a:latin typeface="Aptos"/>
              </a:rPr>
              <a:t> consistently deliver successful movies?</a:t>
            </a:r>
          </a:p>
        </p:txBody>
      </p:sp>
      <p:sp>
        <p:nvSpPr>
          <p:cNvPr id="5" name="Rectangle 4">
            <a:extLst>
              <a:ext uri="{FF2B5EF4-FFF2-40B4-BE49-F238E27FC236}">
                <a16:creationId xmlns:a16="http://schemas.microsoft.com/office/drawing/2014/main" id="{8608BF76-BC31-7DA2-96A3-CD1E9C0B3B85}"/>
              </a:ext>
            </a:extLst>
          </p:cNvPr>
          <p:cNvSpPr/>
          <p:nvPr/>
        </p:nvSpPr>
        <p:spPr>
          <a:xfrm>
            <a:off x="502920" y="94996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FE99328C-83E0-6012-38F6-B08389D5FB69}"/>
              </a:ext>
            </a:extLst>
          </p:cNvPr>
          <p:cNvSpPr txBox="1"/>
          <p:nvPr/>
        </p:nvSpPr>
        <p:spPr>
          <a:xfrm>
            <a:off x="81280" y="5783841"/>
            <a:ext cx="1483358" cy="369332"/>
          </a:xfrm>
          <a:prstGeom prst="rect">
            <a:avLst/>
          </a:prstGeom>
          <a:noFill/>
        </p:spPr>
        <p:txBody>
          <a:bodyPr wrap="square">
            <a:spAutoFit/>
          </a:bodyPr>
          <a:lstStyle/>
          <a:p>
            <a:pPr algn="ctr"/>
            <a:r>
              <a:rPr lang="en-IN" b="1" dirty="0">
                <a:solidFill>
                  <a:srgbClr val="DDAD4C"/>
                </a:solidFill>
                <a:latin typeface="Aptos"/>
              </a:rPr>
              <a:t>Conclusion</a:t>
            </a:r>
            <a:endParaRPr b="1" dirty="0">
              <a:solidFill>
                <a:srgbClr val="DDAD4C"/>
              </a:solidFill>
              <a:latin typeface="Aptos"/>
            </a:endParaRPr>
          </a:p>
        </p:txBody>
      </p:sp>
      <p:sp>
        <p:nvSpPr>
          <p:cNvPr id="15" name="TextBox 14">
            <a:extLst>
              <a:ext uri="{FF2B5EF4-FFF2-40B4-BE49-F238E27FC236}">
                <a16:creationId xmlns:a16="http://schemas.microsoft.com/office/drawing/2014/main" id="{2282DA2C-C2AA-F43F-7AF4-45C180C43F19}"/>
              </a:ext>
            </a:extLst>
          </p:cNvPr>
          <p:cNvSpPr txBox="1"/>
          <p:nvPr/>
        </p:nvSpPr>
        <p:spPr>
          <a:xfrm>
            <a:off x="373888" y="15849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8</a:t>
            </a:r>
            <a:endParaRPr sz="3600" b="1" dirty="0">
              <a:solidFill>
                <a:srgbClr val="DDAD4C"/>
              </a:solidFill>
              <a:latin typeface="Aptos"/>
            </a:endParaRPr>
          </a:p>
        </p:txBody>
      </p:sp>
      <p:sp>
        <p:nvSpPr>
          <p:cNvPr id="25" name="TextBox 24">
            <a:extLst>
              <a:ext uri="{FF2B5EF4-FFF2-40B4-BE49-F238E27FC236}">
                <a16:creationId xmlns:a16="http://schemas.microsoft.com/office/drawing/2014/main" id="{DA80A757-02ED-ADD6-A3A4-E24D355F90AD}"/>
              </a:ext>
            </a:extLst>
          </p:cNvPr>
          <p:cNvSpPr txBox="1"/>
          <p:nvPr/>
        </p:nvSpPr>
        <p:spPr>
          <a:xfrm>
            <a:off x="1564639" y="5675894"/>
            <a:ext cx="10454641" cy="954107"/>
          </a:xfrm>
          <a:prstGeom prst="rect">
            <a:avLst/>
          </a:prstGeom>
          <a:noFill/>
        </p:spPr>
        <p:txBody>
          <a:bodyPr wrap="square">
            <a:spAutoFit/>
          </a:bodyPr>
          <a:lstStyle/>
          <a:p>
            <a:r>
              <a:rPr lang="en-IN" sz="1400" dirty="0">
                <a:solidFill>
                  <a:schemeClr val="bg1"/>
                </a:solidFill>
              </a:rPr>
              <a:t>The analysis shows that Emma Stone has the highest average capped revenue, indicating strong commercial performance. However, her higher revenue variation suggests that this success is not always consistent. Brad Pitt shows comparatively lower but more stable performance. Overall, average revenue alone is not enough to measure consistency. A success-rate analysis based on a defined revenue threshold would provide a stronger business insight.</a:t>
            </a:r>
            <a:endParaRPr sz="800" b="1" dirty="0">
              <a:solidFill>
                <a:schemeClr val="bg1"/>
              </a:solidFill>
              <a:latin typeface="Aptos"/>
            </a:endParaRPr>
          </a:p>
        </p:txBody>
      </p:sp>
      <p:pic>
        <p:nvPicPr>
          <p:cNvPr id="6" name="Picture 5">
            <a:extLst>
              <a:ext uri="{FF2B5EF4-FFF2-40B4-BE49-F238E27FC236}">
                <a16:creationId xmlns:a16="http://schemas.microsoft.com/office/drawing/2014/main" id="{9C01BED9-8065-EE62-4BCF-F776CEBED048}"/>
              </a:ext>
            </a:extLst>
          </p:cNvPr>
          <p:cNvPicPr>
            <a:picLocks noChangeAspect="1"/>
          </p:cNvPicPr>
          <p:nvPr/>
        </p:nvPicPr>
        <p:blipFill>
          <a:blip r:embed="rId2"/>
          <a:srcRect l="1434" r="4970"/>
          <a:stretch>
            <a:fillRect/>
          </a:stretch>
        </p:blipFill>
        <p:spPr>
          <a:xfrm>
            <a:off x="274320" y="1100328"/>
            <a:ext cx="11673840" cy="4385467"/>
          </a:xfrm>
          <a:prstGeom prst="rect">
            <a:avLst/>
          </a:prstGeom>
        </p:spPr>
      </p:pic>
    </p:spTree>
    <p:extLst>
      <p:ext uri="{BB962C8B-B14F-4D97-AF65-F5344CB8AC3E}">
        <p14:creationId xmlns:p14="http://schemas.microsoft.com/office/powerpoint/2010/main" val="35290738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a:extLst>
            <a:ext uri="{FF2B5EF4-FFF2-40B4-BE49-F238E27FC236}">
              <a16:creationId xmlns:a16="http://schemas.microsoft.com/office/drawing/2014/main" id="{B5D36B96-9D37-B74B-5D02-E1BFC13285F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5BD369A-1DE5-7D83-4B3F-6323B90EC943}"/>
              </a:ext>
            </a:extLst>
          </p:cNvPr>
          <p:cNvSpPr txBox="1"/>
          <p:nvPr/>
        </p:nvSpPr>
        <p:spPr>
          <a:xfrm>
            <a:off x="1024128" y="101600"/>
            <a:ext cx="9875520" cy="502920"/>
          </a:xfrm>
          <a:prstGeom prst="rect">
            <a:avLst/>
          </a:prstGeom>
          <a:noFill/>
        </p:spPr>
        <p:txBody>
          <a:bodyPr wrap="square">
            <a:spAutoFit/>
          </a:bodyPr>
          <a:lstStyle/>
          <a:p>
            <a:pPr algn="l"/>
            <a:r>
              <a:rPr sz="2700" b="1" dirty="0">
                <a:solidFill>
                  <a:srgbClr val="DDAD4C"/>
                </a:solidFill>
                <a:latin typeface="Aptos Display"/>
              </a:rPr>
              <a:t>Q4 </a:t>
            </a:r>
            <a:r>
              <a:rPr lang="en-IN" sz="2700" b="1" dirty="0">
                <a:solidFill>
                  <a:srgbClr val="DDAD4C"/>
                </a:solidFill>
                <a:latin typeface="Aptos Display"/>
              </a:rPr>
              <a:t>-</a:t>
            </a:r>
            <a:r>
              <a:rPr sz="2700" b="1" dirty="0">
                <a:solidFill>
                  <a:srgbClr val="DDAD4C"/>
                </a:solidFill>
                <a:latin typeface="Aptos Display"/>
              </a:rPr>
              <a:t> Crew Success</a:t>
            </a:r>
          </a:p>
        </p:txBody>
      </p:sp>
      <p:sp>
        <p:nvSpPr>
          <p:cNvPr id="4" name="TextBox 3">
            <a:extLst>
              <a:ext uri="{FF2B5EF4-FFF2-40B4-BE49-F238E27FC236}">
                <a16:creationId xmlns:a16="http://schemas.microsoft.com/office/drawing/2014/main" id="{239836D3-77C3-E78E-9851-906F04D3558A}"/>
              </a:ext>
            </a:extLst>
          </p:cNvPr>
          <p:cNvSpPr txBox="1"/>
          <p:nvPr/>
        </p:nvSpPr>
        <p:spPr>
          <a:xfrm>
            <a:off x="1033271" y="597408"/>
            <a:ext cx="10332720" cy="307777"/>
          </a:xfrm>
          <a:prstGeom prst="rect">
            <a:avLst/>
          </a:prstGeom>
          <a:noFill/>
        </p:spPr>
        <p:txBody>
          <a:bodyPr wrap="square">
            <a:spAutoFit/>
          </a:bodyPr>
          <a:lstStyle/>
          <a:p>
            <a:pPr algn="l"/>
            <a:r>
              <a:rPr sz="1400" b="1" dirty="0">
                <a:solidFill>
                  <a:srgbClr val="A4A9B4"/>
                </a:solidFill>
                <a:latin typeface="Aptos"/>
              </a:rPr>
              <a:t>Which </a:t>
            </a:r>
            <a:r>
              <a:rPr lang="en-IN" sz="1400" b="1" dirty="0">
                <a:solidFill>
                  <a:srgbClr val="A4A9B4"/>
                </a:solidFill>
                <a:latin typeface="Aptos"/>
              </a:rPr>
              <a:t>actors and director both</a:t>
            </a:r>
            <a:r>
              <a:rPr sz="1400" b="1" dirty="0">
                <a:solidFill>
                  <a:srgbClr val="A4A9B4"/>
                </a:solidFill>
                <a:latin typeface="Aptos"/>
              </a:rPr>
              <a:t> consistently deliver successful movies?</a:t>
            </a:r>
          </a:p>
        </p:txBody>
      </p:sp>
      <p:sp>
        <p:nvSpPr>
          <p:cNvPr id="5" name="Rectangle 4">
            <a:extLst>
              <a:ext uri="{FF2B5EF4-FFF2-40B4-BE49-F238E27FC236}">
                <a16:creationId xmlns:a16="http://schemas.microsoft.com/office/drawing/2014/main" id="{DB772CD5-93AA-A488-A3E2-8CF7D55D5F49}"/>
              </a:ext>
            </a:extLst>
          </p:cNvPr>
          <p:cNvSpPr/>
          <p:nvPr/>
        </p:nvSpPr>
        <p:spPr>
          <a:xfrm>
            <a:off x="502920" y="94996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5DD07386-065F-8343-D00C-940104A87768}"/>
              </a:ext>
            </a:extLst>
          </p:cNvPr>
          <p:cNvSpPr txBox="1"/>
          <p:nvPr/>
        </p:nvSpPr>
        <p:spPr>
          <a:xfrm>
            <a:off x="81280" y="5783841"/>
            <a:ext cx="1483358" cy="369332"/>
          </a:xfrm>
          <a:prstGeom prst="rect">
            <a:avLst/>
          </a:prstGeom>
          <a:noFill/>
        </p:spPr>
        <p:txBody>
          <a:bodyPr wrap="square">
            <a:spAutoFit/>
          </a:bodyPr>
          <a:lstStyle/>
          <a:p>
            <a:pPr algn="ctr"/>
            <a:r>
              <a:rPr lang="en-IN" b="1" dirty="0">
                <a:solidFill>
                  <a:srgbClr val="DDAD4C"/>
                </a:solidFill>
                <a:latin typeface="Aptos"/>
              </a:rPr>
              <a:t>Conclusion</a:t>
            </a:r>
            <a:endParaRPr b="1" dirty="0">
              <a:solidFill>
                <a:srgbClr val="DDAD4C"/>
              </a:solidFill>
              <a:latin typeface="Aptos"/>
            </a:endParaRPr>
          </a:p>
        </p:txBody>
      </p:sp>
      <p:sp>
        <p:nvSpPr>
          <p:cNvPr id="15" name="TextBox 14">
            <a:extLst>
              <a:ext uri="{FF2B5EF4-FFF2-40B4-BE49-F238E27FC236}">
                <a16:creationId xmlns:a16="http://schemas.microsoft.com/office/drawing/2014/main" id="{998FC620-A62F-5910-3103-841CC1A26E7F}"/>
              </a:ext>
            </a:extLst>
          </p:cNvPr>
          <p:cNvSpPr txBox="1"/>
          <p:nvPr/>
        </p:nvSpPr>
        <p:spPr>
          <a:xfrm>
            <a:off x="373888" y="15849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8</a:t>
            </a:r>
            <a:endParaRPr sz="3600" b="1" dirty="0">
              <a:solidFill>
                <a:srgbClr val="DDAD4C"/>
              </a:solidFill>
              <a:latin typeface="Aptos"/>
            </a:endParaRPr>
          </a:p>
        </p:txBody>
      </p:sp>
      <p:sp>
        <p:nvSpPr>
          <p:cNvPr id="25" name="TextBox 24">
            <a:extLst>
              <a:ext uri="{FF2B5EF4-FFF2-40B4-BE49-F238E27FC236}">
                <a16:creationId xmlns:a16="http://schemas.microsoft.com/office/drawing/2014/main" id="{74CA69BC-BD7D-CA6F-1315-18565D5F4CE1}"/>
              </a:ext>
            </a:extLst>
          </p:cNvPr>
          <p:cNvSpPr txBox="1"/>
          <p:nvPr/>
        </p:nvSpPr>
        <p:spPr>
          <a:xfrm>
            <a:off x="1564639" y="5675894"/>
            <a:ext cx="10454641" cy="954107"/>
          </a:xfrm>
          <a:prstGeom prst="rect">
            <a:avLst/>
          </a:prstGeom>
          <a:noFill/>
        </p:spPr>
        <p:txBody>
          <a:bodyPr wrap="square">
            <a:spAutoFit/>
          </a:bodyPr>
          <a:lstStyle/>
          <a:p>
            <a:r>
              <a:rPr lang="en-IN" sz="1400" dirty="0">
                <a:solidFill>
                  <a:schemeClr val="bg1"/>
                </a:solidFill>
              </a:rPr>
              <a:t>The analysis shows that Leonardo Dicaprio , Denis Villeneuve has the highest average capped revenue, indicating strong commercial performance. However, her higher revenue variation suggests that this success is not always consistent. Jennifer Lawrence , Denis Villeneuve  shows comparatively lower but more stable performance. Overall, average revenue alone is not enough to measure consistency. A success-rate analysis based on a defined revenue threshold would provide a stronger business insight.</a:t>
            </a:r>
            <a:endParaRPr sz="800" b="1" dirty="0">
              <a:solidFill>
                <a:schemeClr val="bg1"/>
              </a:solidFill>
              <a:latin typeface="Aptos"/>
            </a:endParaRPr>
          </a:p>
        </p:txBody>
      </p:sp>
      <p:pic>
        <p:nvPicPr>
          <p:cNvPr id="7" name="Picture 6">
            <a:extLst>
              <a:ext uri="{FF2B5EF4-FFF2-40B4-BE49-F238E27FC236}">
                <a16:creationId xmlns:a16="http://schemas.microsoft.com/office/drawing/2014/main" id="{3BD93549-1502-83A0-4D67-496EB9D7C7AE}"/>
              </a:ext>
            </a:extLst>
          </p:cNvPr>
          <p:cNvPicPr>
            <a:picLocks noChangeAspect="1"/>
          </p:cNvPicPr>
          <p:nvPr/>
        </p:nvPicPr>
        <p:blipFill>
          <a:blip r:embed="rId2"/>
          <a:stretch>
            <a:fillRect/>
          </a:stretch>
        </p:blipFill>
        <p:spPr>
          <a:xfrm>
            <a:off x="328168" y="1080799"/>
            <a:ext cx="11267440" cy="4447526"/>
          </a:xfrm>
          <a:prstGeom prst="rect">
            <a:avLst/>
          </a:prstGeom>
        </p:spPr>
      </p:pic>
    </p:spTree>
    <p:extLst>
      <p:ext uri="{BB962C8B-B14F-4D97-AF65-F5344CB8AC3E}">
        <p14:creationId xmlns:p14="http://schemas.microsoft.com/office/powerpoint/2010/main" val="181811569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142240"/>
            <a:ext cx="9875520" cy="502920"/>
          </a:xfrm>
          <a:prstGeom prst="rect">
            <a:avLst/>
          </a:prstGeom>
          <a:noFill/>
        </p:spPr>
        <p:txBody>
          <a:bodyPr wrap="square">
            <a:spAutoFit/>
          </a:bodyPr>
          <a:lstStyle/>
          <a:p>
            <a:pPr algn="l"/>
            <a:r>
              <a:rPr sz="2700" b="1" dirty="0">
                <a:solidFill>
                  <a:srgbClr val="DDAD4C"/>
                </a:solidFill>
                <a:latin typeface="Aptos Display"/>
              </a:rPr>
              <a:t>Power BI Dashboard</a:t>
            </a:r>
          </a:p>
        </p:txBody>
      </p:sp>
      <p:sp>
        <p:nvSpPr>
          <p:cNvPr id="4" name="TextBox 3"/>
          <p:cNvSpPr txBox="1"/>
          <p:nvPr/>
        </p:nvSpPr>
        <p:spPr>
          <a:xfrm>
            <a:off x="1033271" y="607568"/>
            <a:ext cx="10332720" cy="307777"/>
          </a:xfrm>
          <a:prstGeom prst="rect">
            <a:avLst/>
          </a:prstGeom>
          <a:noFill/>
        </p:spPr>
        <p:txBody>
          <a:bodyPr wrap="square">
            <a:spAutoFit/>
          </a:bodyPr>
          <a:lstStyle/>
          <a:p>
            <a:pPr algn="l"/>
            <a:r>
              <a:rPr sz="1400" b="1" dirty="0">
                <a:solidFill>
                  <a:srgbClr val="A4A9B4"/>
                </a:solidFill>
                <a:latin typeface="Aptos"/>
              </a:rPr>
              <a:t>Interactive analysis across four business questions</a:t>
            </a:r>
          </a:p>
        </p:txBody>
      </p:sp>
      <p:sp>
        <p:nvSpPr>
          <p:cNvPr id="21" name="TextBox 20">
            <a:extLst>
              <a:ext uri="{FF2B5EF4-FFF2-40B4-BE49-F238E27FC236}">
                <a16:creationId xmlns:a16="http://schemas.microsoft.com/office/drawing/2014/main" id="{3E13BBE3-330D-8A39-6A94-8CA3460B1A8E}"/>
              </a:ext>
            </a:extLst>
          </p:cNvPr>
          <p:cNvSpPr txBox="1"/>
          <p:nvPr/>
        </p:nvSpPr>
        <p:spPr>
          <a:xfrm>
            <a:off x="373888" y="168656"/>
            <a:ext cx="685800" cy="646331"/>
          </a:xfrm>
          <a:prstGeom prst="rect">
            <a:avLst/>
          </a:prstGeom>
          <a:noFill/>
        </p:spPr>
        <p:txBody>
          <a:bodyPr wrap="square">
            <a:spAutoFit/>
          </a:bodyPr>
          <a:lstStyle/>
          <a:p>
            <a:pPr algn="l"/>
            <a:r>
              <a:rPr sz="3600" b="1" dirty="0">
                <a:solidFill>
                  <a:srgbClr val="DDAD4C"/>
                </a:solidFill>
                <a:latin typeface="Aptos"/>
              </a:rPr>
              <a:t>0</a:t>
            </a:r>
            <a:r>
              <a:rPr lang="en-IN" sz="3600" b="1" dirty="0">
                <a:solidFill>
                  <a:srgbClr val="DDAD4C"/>
                </a:solidFill>
                <a:latin typeface="Aptos"/>
              </a:rPr>
              <a:t>9</a:t>
            </a:r>
            <a:endParaRPr sz="3600" b="1" dirty="0">
              <a:solidFill>
                <a:srgbClr val="DDAD4C"/>
              </a:solidFill>
              <a:latin typeface="Aptos"/>
            </a:endParaRPr>
          </a:p>
        </p:txBody>
      </p:sp>
      <p:pic>
        <p:nvPicPr>
          <p:cNvPr id="23" name="Picture 22">
            <a:extLst>
              <a:ext uri="{FF2B5EF4-FFF2-40B4-BE49-F238E27FC236}">
                <a16:creationId xmlns:a16="http://schemas.microsoft.com/office/drawing/2014/main" id="{6641C923-B0D1-3D99-FE6C-6E7BC67061C8}"/>
              </a:ext>
            </a:extLst>
          </p:cNvPr>
          <p:cNvPicPr>
            <a:picLocks noChangeAspect="1"/>
          </p:cNvPicPr>
          <p:nvPr/>
        </p:nvPicPr>
        <p:blipFill>
          <a:blip r:embed="rId2"/>
          <a:stretch>
            <a:fillRect/>
          </a:stretch>
        </p:blipFill>
        <p:spPr>
          <a:xfrm>
            <a:off x="71120" y="978328"/>
            <a:ext cx="5740400" cy="2698810"/>
          </a:xfrm>
          <a:prstGeom prst="rect">
            <a:avLst/>
          </a:prstGeom>
        </p:spPr>
      </p:pic>
      <p:pic>
        <p:nvPicPr>
          <p:cNvPr id="25" name="Picture 24">
            <a:extLst>
              <a:ext uri="{FF2B5EF4-FFF2-40B4-BE49-F238E27FC236}">
                <a16:creationId xmlns:a16="http://schemas.microsoft.com/office/drawing/2014/main" id="{916C890E-7173-5B75-3740-A9075BB03DBF}"/>
              </a:ext>
            </a:extLst>
          </p:cNvPr>
          <p:cNvPicPr>
            <a:picLocks noChangeAspect="1"/>
          </p:cNvPicPr>
          <p:nvPr/>
        </p:nvPicPr>
        <p:blipFill>
          <a:blip r:embed="rId3"/>
          <a:srcRect l="1186" t="1710" r="1219" b="1724"/>
          <a:stretch>
            <a:fillRect/>
          </a:stretch>
        </p:blipFill>
        <p:spPr>
          <a:xfrm>
            <a:off x="6112256" y="292579"/>
            <a:ext cx="5858254" cy="2981676"/>
          </a:xfrm>
          <a:prstGeom prst="rect">
            <a:avLst/>
          </a:prstGeom>
        </p:spPr>
      </p:pic>
      <p:pic>
        <p:nvPicPr>
          <p:cNvPr id="27" name="Picture 26">
            <a:extLst>
              <a:ext uri="{FF2B5EF4-FFF2-40B4-BE49-F238E27FC236}">
                <a16:creationId xmlns:a16="http://schemas.microsoft.com/office/drawing/2014/main" id="{B76F9CC7-11F2-B07A-05F1-2E9BE9CCB3A5}"/>
              </a:ext>
            </a:extLst>
          </p:cNvPr>
          <p:cNvPicPr>
            <a:picLocks noChangeAspect="1"/>
          </p:cNvPicPr>
          <p:nvPr/>
        </p:nvPicPr>
        <p:blipFill>
          <a:blip r:embed="rId4"/>
          <a:srcRect r="1593"/>
          <a:stretch>
            <a:fillRect/>
          </a:stretch>
        </p:blipFill>
        <p:spPr>
          <a:xfrm>
            <a:off x="91440" y="3911601"/>
            <a:ext cx="5648960" cy="2822478"/>
          </a:xfrm>
          <a:prstGeom prst="rect">
            <a:avLst/>
          </a:prstGeom>
        </p:spPr>
      </p:pic>
      <p:pic>
        <p:nvPicPr>
          <p:cNvPr id="29" name="Picture 28">
            <a:extLst>
              <a:ext uri="{FF2B5EF4-FFF2-40B4-BE49-F238E27FC236}">
                <a16:creationId xmlns:a16="http://schemas.microsoft.com/office/drawing/2014/main" id="{F375BF8C-5149-1D06-DCF5-2421BB5787FD}"/>
              </a:ext>
            </a:extLst>
          </p:cNvPr>
          <p:cNvPicPr>
            <a:picLocks noChangeAspect="1"/>
          </p:cNvPicPr>
          <p:nvPr/>
        </p:nvPicPr>
        <p:blipFill>
          <a:blip r:embed="rId5"/>
          <a:srcRect b="2599"/>
          <a:stretch>
            <a:fillRect/>
          </a:stretch>
        </p:blipFill>
        <p:spPr>
          <a:xfrm>
            <a:off x="5961886" y="3571239"/>
            <a:ext cx="6158993" cy="312420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243840"/>
            <a:ext cx="9875520" cy="502920"/>
          </a:xfrm>
          <a:prstGeom prst="rect">
            <a:avLst/>
          </a:prstGeom>
          <a:noFill/>
        </p:spPr>
        <p:txBody>
          <a:bodyPr wrap="square">
            <a:spAutoFit/>
          </a:bodyPr>
          <a:lstStyle/>
          <a:p>
            <a:pPr algn="l"/>
            <a:r>
              <a:rPr sz="2700" b="1" dirty="0">
                <a:solidFill>
                  <a:srgbClr val="DDAD4C"/>
                </a:solidFill>
                <a:latin typeface="Aptos Display"/>
              </a:rPr>
              <a:t>Key Insights &amp; Findings</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1" dirty="0">
                <a:solidFill>
                  <a:srgbClr val="A4A9B4"/>
                </a:solidFill>
                <a:latin typeface="Aptos"/>
              </a:rPr>
              <a:t>What did the combined analysis tell us?</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5303520" cy="2036065"/>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443736"/>
            <a:ext cx="5303520" cy="400110"/>
          </a:xfrm>
          <a:prstGeom prst="rect">
            <a:avLst/>
          </a:prstGeom>
          <a:noFill/>
        </p:spPr>
        <p:txBody>
          <a:bodyPr wrap="square">
            <a:spAutoFit/>
          </a:bodyPr>
          <a:lstStyle/>
          <a:p>
            <a:pPr algn="ctr"/>
            <a:r>
              <a:rPr sz="2000" b="1" dirty="0">
                <a:solidFill>
                  <a:srgbClr val="DDAD4C"/>
                </a:solidFill>
                <a:latin typeface="Aptos"/>
              </a:rPr>
              <a:t>FINANCIAL</a:t>
            </a:r>
            <a:endParaRPr b="1" dirty="0">
              <a:solidFill>
                <a:srgbClr val="DDAD4C"/>
              </a:solidFill>
              <a:latin typeface="Aptos"/>
            </a:endParaRPr>
          </a:p>
        </p:txBody>
      </p:sp>
      <p:sp>
        <p:nvSpPr>
          <p:cNvPr id="8" name="TextBox 7"/>
          <p:cNvSpPr txBox="1"/>
          <p:nvPr/>
        </p:nvSpPr>
        <p:spPr>
          <a:xfrm>
            <a:off x="795528" y="1889760"/>
            <a:ext cx="4901183" cy="1323439"/>
          </a:xfrm>
          <a:prstGeom prst="rect">
            <a:avLst/>
          </a:prstGeom>
          <a:noFill/>
        </p:spPr>
        <p:txBody>
          <a:bodyPr wrap="square">
            <a:spAutoFit/>
          </a:bodyPr>
          <a:lstStyle/>
          <a:p>
            <a:r>
              <a:rPr lang="en-IN" sz="1600" dirty="0">
                <a:solidFill>
                  <a:schemeClr val="bg1"/>
                </a:solidFill>
              </a:rPr>
              <a:t>Higher-budget movies generally tend to generate higher revenue, showing a positive relationship between budget and box office performance. However, the relationship is not absolute, indicating that budget alone does not guarantee commercial success.</a:t>
            </a:r>
            <a:endParaRPr sz="1400" b="0" dirty="0">
              <a:solidFill>
                <a:schemeClr val="bg1"/>
              </a:solidFill>
              <a:latin typeface="Aptos"/>
            </a:endParaRPr>
          </a:p>
        </p:txBody>
      </p:sp>
      <p:sp>
        <p:nvSpPr>
          <p:cNvPr id="9" name="Rounded Rectangle 8"/>
          <p:cNvSpPr/>
          <p:nvPr/>
        </p:nvSpPr>
        <p:spPr>
          <a:xfrm>
            <a:off x="6172200" y="1417320"/>
            <a:ext cx="5303520" cy="2036065"/>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72200" y="1453896"/>
            <a:ext cx="5303520" cy="400110"/>
          </a:xfrm>
          <a:prstGeom prst="rect">
            <a:avLst/>
          </a:prstGeom>
          <a:noFill/>
        </p:spPr>
        <p:txBody>
          <a:bodyPr wrap="square">
            <a:spAutoFit/>
          </a:bodyPr>
          <a:lstStyle/>
          <a:p>
            <a:pPr algn="ctr"/>
            <a:r>
              <a:rPr sz="2000" b="1" dirty="0">
                <a:solidFill>
                  <a:srgbClr val="DDAD4C"/>
                </a:solidFill>
                <a:latin typeface="Aptos"/>
              </a:rPr>
              <a:t>GENRE</a:t>
            </a:r>
          </a:p>
        </p:txBody>
      </p:sp>
      <p:sp>
        <p:nvSpPr>
          <p:cNvPr id="11" name="TextBox 10"/>
          <p:cNvSpPr txBox="1"/>
          <p:nvPr/>
        </p:nvSpPr>
        <p:spPr>
          <a:xfrm>
            <a:off x="6373368" y="1889760"/>
            <a:ext cx="4901183" cy="1077218"/>
          </a:xfrm>
          <a:prstGeom prst="rect">
            <a:avLst/>
          </a:prstGeom>
          <a:noFill/>
        </p:spPr>
        <p:txBody>
          <a:bodyPr wrap="square">
            <a:spAutoFit/>
          </a:bodyPr>
          <a:lstStyle/>
          <a:p>
            <a:r>
              <a:rPr lang="en-IN" sz="1600" dirty="0">
                <a:solidFill>
                  <a:schemeClr val="bg1"/>
                </a:solidFill>
              </a:rPr>
              <a:t>Sci-Fi, Fantasy and Adventure are among the leading genres in both revenue and profit. The rankings are largely consistent across both measures, with only minor changes in the lower-ranked positions.</a:t>
            </a:r>
            <a:endParaRPr sz="1400" b="0" dirty="0">
              <a:solidFill>
                <a:schemeClr val="bg1"/>
              </a:solidFill>
              <a:latin typeface="Aptos"/>
            </a:endParaRPr>
          </a:p>
        </p:txBody>
      </p:sp>
      <p:sp>
        <p:nvSpPr>
          <p:cNvPr id="12" name="Rounded Rectangle 11"/>
          <p:cNvSpPr/>
          <p:nvPr/>
        </p:nvSpPr>
        <p:spPr>
          <a:xfrm>
            <a:off x="594360" y="3921760"/>
            <a:ext cx="5303520" cy="20421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948175"/>
            <a:ext cx="5303520" cy="400110"/>
          </a:xfrm>
          <a:prstGeom prst="rect">
            <a:avLst/>
          </a:prstGeom>
          <a:noFill/>
        </p:spPr>
        <p:txBody>
          <a:bodyPr wrap="square">
            <a:spAutoFit/>
          </a:bodyPr>
          <a:lstStyle/>
          <a:p>
            <a:pPr algn="ctr"/>
            <a:r>
              <a:rPr sz="2000" b="1" dirty="0">
                <a:solidFill>
                  <a:srgbClr val="DDAD4C"/>
                </a:solidFill>
                <a:latin typeface="Aptos"/>
              </a:rPr>
              <a:t>AUDIENCE</a:t>
            </a:r>
          </a:p>
        </p:txBody>
      </p:sp>
      <p:sp>
        <p:nvSpPr>
          <p:cNvPr id="14" name="TextBox 13"/>
          <p:cNvSpPr txBox="1"/>
          <p:nvPr/>
        </p:nvSpPr>
        <p:spPr>
          <a:xfrm>
            <a:off x="795528" y="4394200"/>
            <a:ext cx="4901183" cy="1323439"/>
          </a:xfrm>
          <a:prstGeom prst="rect">
            <a:avLst/>
          </a:prstGeom>
          <a:noFill/>
        </p:spPr>
        <p:txBody>
          <a:bodyPr wrap="square">
            <a:spAutoFit/>
          </a:bodyPr>
          <a:lstStyle/>
          <a:p>
            <a:r>
              <a:rPr lang="en-IN" sz="1600" dirty="0">
                <a:solidFill>
                  <a:schemeClr val="bg1"/>
                </a:solidFill>
              </a:rPr>
              <a:t>Higher audience scores show an association with higher revenue, while IMDb ratings show an association with ROI. This indicates that audience reception and ratings can support commercial performance, but they alone cannot determine a movie's success.</a:t>
            </a:r>
            <a:endParaRPr sz="1400" b="0" dirty="0">
              <a:solidFill>
                <a:schemeClr val="bg1"/>
              </a:solidFill>
              <a:latin typeface="Aptos"/>
            </a:endParaRPr>
          </a:p>
        </p:txBody>
      </p:sp>
      <p:sp>
        <p:nvSpPr>
          <p:cNvPr id="15" name="Rounded Rectangle 14"/>
          <p:cNvSpPr/>
          <p:nvPr/>
        </p:nvSpPr>
        <p:spPr>
          <a:xfrm>
            <a:off x="6172200" y="3921760"/>
            <a:ext cx="5303520" cy="20421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72200" y="3948175"/>
            <a:ext cx="5303520" cy="400110"/>
          </a:xfrm>
          <a:prstGeom prst="rect">
            <a:avLst/>
          </a:prstGeom>
          <a:noFill/>
        </p:spPr>
        <p:txBody>
          <a:bodyPr wrap="square">
            <a:spAutoFit/>
          </a:bodyPr>
          <a:lstStyle/>
          <a:p>
            <a:pPr algn="ctr"/>
            <a:r>
              <a:rPr sz="2000" b="1" dirty="0">
                <a:solidFill>
                  <a:srgbClr val="DDAD4C"/>
                </a:solidFill>
                <a:latin typeface="Aptos"/>
              </a:rPr>
              <a:t>CREW</a:t>
            </a:r>
          </a:p>
        </p:txBody>
      </p:sp>
      <p:sp>
        <p:nvSpPr>
          <p:cNvPr id="17" name="TextBox 16"/>
          <p:cNvSpPr txBox="1"/>
          <p:nvPr/>
        </p:nvSpPr>
        <p:spPr>
          <a:xfrm>
            <a:off x="6373368" y="4394200"/>
            <a:ext cx="4901183" cy="1323439"/>
          </a:xfrm>
          <a:prstGeom prst="rect">
            <a:avLst/>
          </a:prstGeom>
          <a:noFill/>
        </p:spPr>
        <p:txBody>
          <a:bodyPr wrap="square">
            <a:spAutoFit/>
          </a:bodyPr>
          <a:lstStyle/>
          <a:p>
            <a:r>
              <a:rPr lang="en-IN" sz="1600" dirty="0">
                <a:solidFill>
                  <a:schemeClr val="bg1"/>
                </a:solidFill>
              </a:rPr>
              <a:t>Sofia Coppola / Brad Pitt stands out in the director / actor analysis across key financial measures, particularly revenue, profit and ROI. Sofia Coppola and Brad Pitt show strong consistency, based on their relatively lower standard deviation across revenue, profit, and ROI.</a:t>
            </a:r>
            <a:endParaRPr sz="1200" b="0" dirty="0">
              <a:solidFill>
                <a:schemeClr val="bg1"/>
              </a:solidFill>
              <a:latin typeface="Aptos"/>
            </a:endParaRPr>
          </a:p>
        </p:txBody>
      </p:sp>
      <p:sp>
        <p:nvSpPr>
          <p:cNvPr id="19" name="TextBox 18">
            <a:extLst>
              <a:ext uri="{FF2B5EF4-FFF2-40B4-BE49-F238E27FC236}">
                <a16:creationId xmlns:a16="http://schemas.microsoft.com/office/drawing/2014/main" id="{C30828C6-C8C3-5BDD-CB06-7D7DD6945867}"/>
              </a:ext>
            </a:extLst>
          </p:cNvPr>
          <p:cNvSpPr txBox="1"/>
          <p:nvPr/>
        </p:nvSpPr>
        <p:spPr>
          <a:xfrm>
            <a:off x="373888" y="310896"/>
            <a:ext cx="685800" cy="646331"/>
          </a:xfrm>
          <a:prstGeom prst="rect">
            <a:avLst/>
          </a:prstGeom>
          <a:noFill/>
        </p:spPr>
        <p:txBody>
          <a:bodyPr wrap="square">
            <a:spAutoFit/>
          </a:bodyPr>
          <a:lstStyle/>
          <a:p>
            <a:pPr algn="l"/>
            <a:r>
              <a:rPr lang="en-IN" sz="3600" b="1" dirty="0">
                <a:solidFill>
                  <a:srgbClr val="DDAD4C"/>
                </a:solidFill>
                <a:latin typeface="Aptos"/>
              </a:rPr>
              <a:t>10</a:t>
            </a:r>
            <a:endParaRPr sz="3600" b="1" dirty="0">
              <a:solidFill>
                <a:srgbClr val="DDAD4C"/>
              </a:solidFill>
              <a:latin typeface="Aptos"/>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116"/>
        </a:solidFill>
        <a:effectLst/>
      </p:bgPr>
    </p:bg>
    <p:spTree>
      <p:nvGrpSpPr>
        <p:cNvPr id="1" name=""/>
        <p:cNvGrpSpPr/>
        <p:nvPr/>
      </p:nvGrpSpPr>
      <p:grpSpPr>
        <a:xfrm>
          <a:off x="0" y="0"/>
          <a:ext cx="0" cy="0"/>
          <a:chOff x="0" y="0"/>
          <a:chExt cx="0" cy="0"/>
        </a:xfrm>
      </p:grpSpPr>
      <p:sp>
        <p:nvSpPr>
          <p:cNvPr id="3" name="TextBox 2"/>
          <p:cNvSpPr txBox="1"/>
          <p:nvPr/>
        </p:nvSpPr>
        <p:spPr>
          <a:xfrm>
            <a:off x="1024128" y="284480"/>
            <a:ext cx="9875520" cy="502920"/>
          </a:xfrm>
          <a:prstGeom prst="rect">
            <a:avLst/>
          </a:prstGeom>
          <a:noFill/>
        </p:spPr>
        <p:txBody>
          <a:bodyPr wrap="square">
            <a:spAutoFit/>
          </a:bodyPr>
          <a:lstStyle/>
          <a:p>
            <a:pPr algn="l"/>
            <a:r>
              <a:rPr sz="2700" b="1" dirty="0">
                <a:solidFill>
                  <a:srgbClr val="DDAD4C"/>
                </a:solidFill>
                <a:latin typeface="Aptos Display"/>
              </a:rPr>
              <a:t>Business Recommendations &amp; Conclusion</a:t>
            </a:r>
          </a:p>
        </p:txBody>
      </p:sp>
      <p:sp>
        <p:nvSpPr>
          <p:cNvPr id="4" name="TextBox 3"/>
          <p:cNvSpPr txBox="1"/>
          <p:nvPr/>
        </p:nvSpPr>
        <p:spPr>
          <a:xfrm>
            <a:off x="1033271" y="749808"/>
            <a:ext cx="10332720" cy="307777"/>
          </a:xfrm>
          <a:prstGeom prst="rect">
            <a:avLst/>
          </a:prstGeom>
          <a:noFill/>
        </p:spPr>
        <p:txBody>
          <a:bodyPr wrap="square">
            <a:spAutoFit/>
          </a:bodyPr>
          <a:lstStyle/>
          <a:p>
            <a:pPr algn="l"/>
            <a:r>
              <a:rPr sz="1400" b="0" dirty="0">
                <a:solidFill>
                  <a:srgbClr val="A4A9B4"/>
                </a:solidFill>
                <a:latin typeface="Aptos"/>
              </a:rPr>
              <a:t>Turning analysis into decisions</a:t>
            </a:r>
          </a:p>
        </p:txBody>
      </p:sp>
      <p:sp>
        <p:nvSpPr>
          <p:cNvPr id="5" name="Rectangle 4"/>
          <p:cNvSpPr/>
          <p:nvPr/>
        </p:nvSpPr>
        <p:spPr>
          <a:xfrm>
            <a:off x="502920" y="1143000"/>
            <a:ext cx="11155680" cy="16459"/>
          </a:xfrm>
          <a:prstGeom prst="rect">
            <a:avLst/>
          </a:prstGeom>
          <a:solidFill>
            <a:srgbClr val="373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3474720" cy="44805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22914"/>
            <a:ext cx="3474720" cy="400110"/>
          </a:xfrm>
          <a:prstGeom prst="rect">
            <a:avLst/>
          </a:prstGeom>
          <a:noFill/>
        </p:spPr>
        <p:txBody>
          <a:bodyPr wrap="square">
            <a:spAutoFit/>
          </a:bodyPr>
          <a:lstStyle/>
          <a:p>
            <a:pPr algn="ctr"/>
            <a:r>
              <a:rPr sz="2000" b="1" dirty="0">
                <a:solidFill>
                  <a:srgbClr val="DDAD4C"/>
                </a:solidFill>
                <a:latin typeface="Aptos"/>
              </a:rPr>
              <a:t>01  BUDGET DECISIONS</a:t>
            </a:r>
          </a:p>
        </p:txBody>
      </p:sp>
      <p:sp>
        <p:nvSpPr>
          <p:cNvPr id="8" name="TextBox 7"/>
          <p:cNvSpPr txBox="1"/>
          <p:nvPr/>
        </p:nvSpPr>
        <p:spPr>
          <a:xfrm>
            <a:off x="795528" y="2052320"/>
            <a:ext cx="3072384" cy="2272225"/>
          </a:xfrm>
          <a:prstGeom prst="rect">
            <a:avLst/>
          </a:prstGeom>
          <a:noFill/>
        </p:spPr>
        <p:txBody>
          <a:bodyPr wrap="square">
            <a:spAutoFit/>
          </a:bodyPr>
          <a:lstStyle/>
          <a:p>
            <a:pPr>
              <a:lnSpc>
                <a:spcPct val="150000"/>
              </a:lnSpc>
            </a:pPr>
            <a:r>
              <a:rPr lang="en-IN" sz="1600" dirty="0">
                <a:solidFill>
                  <a:schemeClr val="bg1"/>
                </a:solidFill>
              </a:rPr>
              <a:t>Budget should be considered an important investment factor, but not the only predictor of success. Movie projects should also consider genre, audience reception and talent performance.</a:t>
            </a:r>
            <a:endParaRPr sz="1400" dirty="0">
              <a:solidFill>
                <a:schemeClr val="bg1"/>
              </a:solidFill>
              <a:latin typeface="Aptos"/>
            </a:endParaRPr>
          </a:p>
        </p:txBody>
      </p:sp>
      <p:sp>
        <p:nvSpPr>
          <p:cNvPr id="9" name="Rounded Rectangle 8"/>
          <p:cNvSpPr/>
          <p:nvPr/>
        </p:nvSpPr>
        <p:spPr>
          <a:xfrm>
            <a:off x="4343400" y="1417320"/>
            <a:ext cx="3474720" cy="44805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43400" y="1522914"/>
            <a:ext cx="3474720" cy="400110"/>
          </a:xfrm>
          <a:prstGeom prst="rect">
            <a:avLst/>
          </a:prstGeom>
          <a:noFill/>
        </p:spPr>
        <p:txBody>
          <a:bodyPr wrap="square">
            <a:spAutoFit/>
          </a:bodyPr>
          <a:lstStyle/>
          <a:p>
            <a:pPr algn="ctr"/>
            <a:r>
              <a:rPr sz="2000" b="1">
                <a:solidFill>
                  <a:srgbClr val="DDAD4C"/>
                </a:solidFill>
                <a:latin typeface="Aptos"/>
              </a:rPr>
              <a:t>02  GENRE STRATEGY</a:t>
            </a:r>
          </a:p>
        </p:txBody>
      </p:sp>
      <p:sp>
        <p:nvSpPr>
          <p:cNvPr id="11" name="TextBox 10"/>
          <p:cNvSpPr txBox="1"/>
          <p:nvPr/>
        </p:nvSpPr>
        <p:spPr>
          <a:xfrm>
            <a:off x="4544568" y="2052320"/>
            <a:ext cx="3072384" cy="2272225"/>
          </a:xfrm>
          <a:prstGeom prst="rect">
            <a:avLst/>
          </a:prstGeom>
          <a:noFill/>
        </p:spPr>
        <p:txBody>
          <a:bodyPr wrap="square">
            <a:spAutoFit/>
          </a:bodyPr>
          <a:lstStyle/>
          <a:p>
            <a:pPr>
              <a:lnSpc>
                <a:spcPct val="150000"/>
              </a:lnSpc>
            </a:pPr>
            <a:r>
              <a:rPr lang="en-IN" sz="1600" dirty="0">
                <a:solidFill>
                  <a:schemeClr val="bg1"/>
                </a:solidFill>
              </a:rPr>
              <a:t>Revenue and profit performance should both be considered when selecting genres. Genres showing strong performance across both measures can provide better commercial potential.</a:t>
            </a:r>
            <a:endParaRPr sz="1400" dirty="0">
              <a:solidFill>
                <a:schemeClr val="bg1"/>
              </a:solidFill>
              <a:latin typeface="Aptos"/>
            </a:endParaRPr>
          </a:p>
        </p:txBody>
      </p:sp>
      <p:sp>
        <p:nvSpPr>
          <p:cNvPr id="12" name="Rounded Rectangle 11"/>
          <p:cNvSpPr/>
          <p:nvPr/>
        </p:nvSpPr>
        <p:spPr>
          <a:xfrm>
            <a:off x="8092440" y="1417320"/>
            <a:ext cx="3474720" cy="4480560"/>
          </a:xfrm>
          <a:prstGeom prst="roundRect">
            <a:avLst/>
          </a:prstGeom>
          <a:solidFill>
            <a:srgbClr val="191C23"/>
          </a:solidFill>
          <a:ln>
            <a:solidFill>
              <a:srgbClr val="373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92440" y="1522914"/>
            <a:ext cx="3474720" cy="400110"/>
          </a:xfrm>
          <a:prstGeom prst="rect">
            <a:avLst/>
          </a:prstGeom>
          <a:noFill/>
        </p:spPr>
        <p:txBody>
          <a:bodyPr wrap="square">
            <a:spAutoFit/>
          </a:bodyPr>
          <a:lstStyle/>
          <a:p>
            <a:pPr algn="ctr"/>
            <a:r>
              <a:rPr sz="2000" b="1">
                <a:solidFill>
                  <a:srgbClr val="DDAD4C"/>
                </a:solidFill>
                <a:latin typeface="Aptos"/>
              </a:rPr>
              <a:t>03  TALENT &amp; AUDIENCE</a:t>
            </a:r>
          </a:p>
        </p:txBody>
      </p:sp>
      <p:sp>
        <p:nvSpPr>
          <p:cNvPr id="14" name="TextBox 13"/>
          <p:cNvSpPr txBox="1"/>
          <p:nvPr/>
        </p:nvSpPr>
        <p:spPr>
          <a:xfrm>
            <a:off x="8293608" y="2052320"/>
            <a:ext cx="3072384" cy="2641557"/>
          </a:xfrm>
          <a:prstGeom prst="rect">
            <a:avLst/>
          </a:prstGeom>
          <a:noFill/>
        </p:spPr>
        <p:txBody>
          <a:bodyPr wrap="square">
            <a:spAutoFit/>
          </a:bodyPr>
          <a:lstStyle/>
          <a:p>
            <a:pPr>
              <a:lnSpc>
                <a:spcPct val="150000"/>
              </a:lnSpc>
            </a:pPr>
            <a:r>
              <a:rPr lang="en-IN" sz="1600" dirty="0">
                <a:solidFill>
                  <a:schemeClr val="bg1"/>
                </a:solidFill>
              </a:rPr>
              <a:t>Actors and directors should be evaluated using multiple metrics such as revenue, profit, ROI and IMDb rating. Audience reception can also be considered as a supporting indicator of potential success.</a:t>
            </a:r>
            <a:endParaRPr sz="1400" dirty="0">
              <a:solidFill>
                <a:schemeClr val="bg1"/>
              </a:solidFill>
              <a:latin typeface="Aptos"/>
            </a:endParaRPr>
          </a:p>
        </p:txBody>
      </p:sp>
      <p:sp>
        <p:nvSpPr>
          <p:cNvPr id="15" name="TextBox 14"/>
          <p:cNvSpPr txBox="1"/>
          <p:nvPr/>
        </p:nvSpPr>
        <p:spPr>
          <a:xfrm>
            <a:off x="101600" y="6219952"/>
            <a:ext cx="2275840" cy="400110"/>
          </a:xfrm>
          <a:prstGeom prst="rect">
            <a:avLst/>
          </a:prstGeom>
          <a:noFill/>
        </p:spPr>
        <p:txBody>
          <a:bodyPr wrap="square">
            <a:spAutoFit/>
          </a:bodyPr>
          <a:lstStyle/>
          <a:p>
            <a:pPr algn="l"/>
            <a:r>
              <a:rPr sz="2000" b="1" dirty="0">
                <a:solidFill>
                  <a:srgbClr val="DDAD4C"/>
                </a:solidFill>
                <a:latin typeface="Aptos"/>
              </a:rPr>
              <a:t>FINAL TAKEAWAY</a:t>
            </a:r>
          </a:p>
        </p:txBody>
      </p:sp>
      <p:sp>
        <p:nvSpPr>
          <p:cNvPr id="16" name="TextBox 15"/>
          <p:cNvSpPr txBox="1"/>
          <p:nvPr/>
        </p:nvSpPr>
        <p:spPr>
          <a:xfrm>
            <a:off x="2279903" y="6146880"/>
            <a:ext cx="9144000" cy="523220"/>
          </a:xfrm>
          <a:prstGeom prst="rect">
            <a:avLst/>
          </a:prstGeom>
          <a:noFill/>
        </p:spPr>
        <p:txBody>
          <a:bodyPr wrap="square">
            <a:spAutoFit/>
          </a:bodyPr>
          <a:lstStyle/>
          <a:p>
            <a:pPr algn="l"/>
            <a:r>
              <a:rPr sz="1400" b="0" dirty="0">
                <a:solidFill>
                  <a:srgbClr val="F2F3F5"/>
                </a:solidFill>
                <a:latin typeface="Aptos"/>
              </a:rPr>
              <a:t>Movie success is multi-factor: financial investment, genre, audience reception and crew performance provide complementary signals.</a:t>
            </a:r>
          </a:p>
        </p:txBody>
      </p:sp>
      <p:sp>
        <p:nvSpPr>
          <p:cNvPr id="18" name="TextBox 17">
            <a:extLst>
              <a:ext uri="{FF2B5EF4-FFF2-40B4-BE49-F238E27FC236}">
                <a16:creationId xmlns:a16="http://schemas.microsoft.com/office/drawing/2014/main" id="{CA8C9371-2A89-9B62-1E5E-8A8AA9A8D06A}"/>
              </a:ext>
            </a:extLst>
          </p:cNvPr>
          <p:cNvSpPr txBox="1"/>
          <p:nvPr/>
        </p:nvSpPr>
        <p:spPr>
          <a:xfrm>
            <a:off x="373888" y="310896"/>
            <a:ext cx="685800" cy="646331"/>
          </a:xfrm>
          <a:prstGeom prst="rect">
            <a:avLst/>
          </a:prstGeom>
          <a:noFill/>
        </p:spPr>
        <p:txBody>
          <a:bodyPr wrap="square">
            <a:spAutoFit/>
          </a:bodyPr>
          <a:lstStyle/>
          <a:p>
            <a:pPr algn="l"/>
            <a:r>
              <a:rPr lang="en-IN" sz="3600" b="1" dirty="0">
                <a:solidFill>
                  <a:srgbClr val="DDAD4C"/>
                </a:solidFill>
                <a:latin typeface="Aptos"/>
              </a:rPr>
              <a:t>11</a:t>
            </a:r>
            <a:endParaRPr sz="3600" b="1" dirty="0">
              <a:solidFill>
                <a:srgbClr val="DDAD4C"/>
              </a:solidFill>
              <a:latin typeface="Apto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1448</TotalTime>
  <Words>1242</Words>
  <Application>Microsoft Office PowerPoint</Application>
  <PresentationFormat>Widescreen</PresentationFormat>
  <Paragraphs>104</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Piyush  Dave</cp:lastModifiedBy>
  <cp:revision>34</cp:revision>
  <dcterms:created xsi:type="dcterms:W3CDTF">2013-01-27T09:14:16Z</dcterms:created>
  <dcterms:modified xsi:type="dcterms:W3CDTF">2026-08-18T13:57:50Z</dcterms:modified>
  <cp:category/>
</cp:coreProperties>
</file>